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62" r:id="rId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C22339-6C26-468E-9DBC-26361FACED40}" v="91" dt="2025-01-27T10:02:54.054"/>
    <p1510:client id="{59669903-6A94-48A3-A4E7-D63577837848}" v="74" dt="2025-01-26T11:17:45.3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438"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ina COPPOLA" userId="S::cristina.coppola@unipr.it::72f36167-ecc3-45ce-8753-f8af594e8b05" providerId="AD" clId="Web-{22C22339-6C26-468E-9DBC-26361FACED40}"/>
    <pc:docChg chg="modSld">
      <pc:chgData name="Cristina COPPOLA" userId="S::cristina.coppola@unipr.it::72f36167-ecc3-45ce-8753-f8af594e8b05" providerId="AD" clId="Web-{22C22339-6C26-468E-9DBC-26361FACED40}" dt="2025-01-27T10:02:54.054" v="90" actId="20577"/>
      <pc:docMkLst>
        <pc:docMk/>
      </pc:docMkLst>
      <pc:sldChg chg="modSp">
        <pc:chgData name="Cristina COPPOLA" userId="S::cristina.coppola@unipr.it::72f36167-ecc3-45ce-8753-f8af594e8b05" providerId="AD" clId="Web-{22C22339-6C26-468E-9DBC-26361FACED40}" dt="2025-01-27T10:02:54.054" v="90" actId="20577"/>
        <pc:sldMkLst>
          <pc:docMk/>
          <pc:sldMk cId="220595702" sldId="262"/>
        </pc:sldMkLst>
        <pc:spChg chg="mod">
          <ac:chgData name="Cristina COPPOLA" userId="S::cristina.coppola@unipr.it::72f36167-ecc3-45ce-8753-f8af594e8b05" providerId="AD" clId="Web-{22C22339-6C26-468E-9DBC-26361FACED40}" dt="2025-01-27T10:02:54.054" v="90" actId="20577"/>
          <ac:spMkLst>
            <pc:docMk/>
            <pc:sldMk cId="220595702" sldId="262"/>
            <ac:spMk id="2" creationId="{00000000-0000-0000-0000-000000000000}"/>
          </ac:spMkLst>
        </pc:spChg>
      </pc:sldChg>
    </pc:docChg>
  </pc:docChgLst>
  <pc:docChgLst>
    <pc:chgData name="Cristina COPPOLA" userId="S::cristina.coppola@unipr.it::72f36167-ecc3-45ce-8753-f8af594e8b05" providerId="AD" clId="Web-{6461E868-F363-4C08-BCB2-0B3EA0D6BDFA}"/>
    <pc:docChg chg="modSld">
      <pc:chgData name="Cristina COPPOLA" userId="S::cristina.coppola@unipr.it::72f36167-ecc3-45ce-8753-f8af594e8b05" providerId="AD" clId="Web-{6461E868-F363-4C08-BCB2-0B3EA0D6BDFA}" dt="2024-02-05T07:57:06.813" v="100" actId="20577"/>
      <pc:docMkLst>
        <pc:docMk/>
      </pc:docMkLst>
      <pc:sldChg chg="modSp">
        <pc:chgData name="Cristina COPPOLA" userId="S::cristina.coppola@unipr.it::72f36167-ecc3-45ce-8753-f8af594e8b05" providerId="AD" clId="Web-{6461E868-F363-4C08-BCB2-0B3EA0D6BDFA}" dt="2024-02-05T07:57:06.813" v="100" actId="20577"/>
        <pc:sldMkLst>
          <pc:docMk/>
          <pc:sldMk cId="1494587829" sldId="260"/>
        </pc:sldMkLst>
        <pc:spChg chg="mod">
          <ac:chgData name="Cristina COPPOLA" userId="S::cristina.coppola@unipr.it::72f36167-ecc3-45ce-8753-f8af594e8b05" providerId="AD" clId="Web-{6461E868-F363-4C08-BCB2-0B3EA0D6BDFA}" dt="2024-02-05T07:57:06.813" v="100" actId="20577"/>
          <ac:spMkLst>
            <pc:docMk/>
            <pc:sldMk cId="1494587829" sldId="260"/>
            <ac:spMk id="2" creationId="{00000000-0000-0000-0000-000000000000}"/>
          </ac:spMkLst>
        </pc:spChg>
      </pc:sldChg>
    </pc:docChg>
  </pc:docChgLst>
  <pc:docChgLst>
    <pc:chgData name="Cristina COPPOLA" userId="S::cristina.coppola@unipr.it::72f36167-ecc3-45ce-8753-f8af594e8b05" providerId="AD" clId="Web-{9FB94202-91E0-48A1-9873-2F92DDC0DB2E}"/>
    <pc:docChg chg="modSld">
      <pc:chgData name="Cristina COPPOLA" userId="S::cristina.coppola@unipr.it::72f36167-ecc3-45ce-8753-f8af594e8b05" providerId="AD" clId="Web-{9FB94202-91E0-48A1-9873-2F92DDC0DB2E}" dt="2022-10-20T09:40:03.064" v="160" actId="20577"/>
      <pc:docMkLst>
        <pc:docMk/>
      </pc:docMkLst>
      <pc:sldChg chg="modSp">
        <pc:chgData name="Cristina COPPOLA" userId="S::cristina.coppola@unipr.it::72f36167-ecc3-45ce-8753-f8af594e8b05" providerId="AD" clId="Web-{9FB94202-91E0-48A1-9873-2F92DDC0DB2E}" dt="2022-10-20T09:40:03.064" v="160" actId="20577"/>
        <pc:sldMkLst>
          <pc:docMk/>
          <pc:sldMk cId="220595702" sldId="262"/>
        </pc:sldMkLst>
        <pc:spChg chg="mod">
          <ac:chgData name="Cristina COPPOLA" userId="S::cristina.coppola@unipr.it::72f36167-ecc3-45ce-8753-f8af594e8b05" providerId="AD" clId="Web-{9FB94202-91E0-48A1-9873-2F92DDC0DB2E}" dt="2022-10-20T09:40:03.064" v="160" actId="20577"/>
          <ac:spMkLst>
            <pc:docMk/>
            <pc:sldMk cId="220595702" sldId="262"/>
            <ac:spMk id="2" creationId="{00000000-0000-0000-0000-000000000000}"/>
          </ac:spMkLst>
        </pc:spChg>
      </pc:sldChg>
    </pc:docChg>
  </pc:docChgLst>
  <pc:docChgLst>
    <pc:chgData name="Cristina COPPOLA" userId="S::cristina.coppola@unipr.it::72f36167-ecc3-45ce-8753-f8af594e8b05" providerId="AD" clId="Web-{59669903-6A94-48A3-A4E7-D63577837848}"/>
    <pc:docChg chg="modSld">
      <pc:chgData name="Cristina COPPOLA" userId="S::cristina.coppola@unipr.it::72f36167-ecc3-45ce-8753-f8af594e8b05" providerId="AD" clId="Web-{59669903-6A94-48A3-A4E7-D63577837848}" dt="2025-01-26T11:17:45.306" v="73" actId="20577"/>
      <pc:docMkLst>
        <pc:docMk/>
      </pc:docMkLst>
      <pc:sldChg chg="modSp">
        <pc:chgData name="Cristina COPPOLA" userId="S::cristina.coppola@unipr.it::72f36167-ecc3-45ce-8753-f8af594e8b05" providerId="AD" clId="Web-{59669903-6A94-48A3-A4E7-D63577837848}" dt="2025-01-26T11:17:45.306" v="73" actId="20577"/>
        <pc:sldMkLst>
          <pc:docMk/>
          <pc:sldMk cId="220595702" sldId="262"/>
        </pc:sldMkLst>
        <pc:spChg chg="mod">
          <ac:chgData name="Cristina COPPOLA" userId="S::cristina.coppola@unipr.it::72f36167-ecc3-45ce-8753-f8af594e8b05" providerId="AD" clId="Web-{59669903-6A94-48A3-A4E7-D63577837848}" dt="2025-01-26T11:17:45.306" v="73" actId="20577"/>
          <ac:spMkLst>
            <pc:docMk/>
            <pc:sldMk cId="220595702" sldId="262"/>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A9F4269A-A025-4D3E-928B-626560F61243}" type="datetimeFigureOut">
              <a:rPr lang="it-IT" smtClean="0"/>
              <a:t>27/01/2025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3638668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9F4269A-A025-4D3E-928B-626560F61243}" type="datetimeFigureOut">
              <a:rPr lang="it-IT" smtClean="0"/>
              <a:t>27/01/2025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940298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Modifica gli stili del testo dello schema</a:t>
            </a:r>
          </a:p>
        </p:txBody>
      </p:sp>
      <p:sp>
        <p:nvSpPr>
          <p:cNvPr id="4" name="Segnaposto data 3"/>
          <p:cNvSpPr>
            <a:spLocks noGrp="1"/>
          </p:cNvSpPr>
          <p:nvPr>
            <p:ph type="dt" sz="half" idx="10"/>
          </p:nvPr>
        </p:nvSpPr>
        <p:spPr/>
        <p:txBody>
          <a:bodyPr/>
          <a:lstStyle/>
          <a:p>
            <a:fld id="{A9F4269A-A025-4D3E-928B-626560F61243}" type="datetimeFigureOut">
              <a:rPr lang="it-IT" smtClean="0"/>
              <a:t>27/01/2025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669470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838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172200" y="1825625"/>
            <a:ext cx="5181600" cy="435133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A9F4269A-A025-4D3E-928B-626560F61243}" type="datetimeFigureOut">
              <a:rPr lang="it-IT" smtClean="0"/>
              <a:t>27/01/2025</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2778995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A9F4269A-A025-4D3E-928B-626560F61243}" type="datetimeFigureOut">
              <a:rPr lang="it-IT" smtClean="0"/>
              <a:t>27/01/2025</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577409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p:txBody>
          <a:bodyPr/>
          <a:lstStyle/>
          <a:p>
            <a:fld id="{A9F4269A-A025-4D3E-928B-626560F61243}" type="datetimeFigureOut">
              <a:rPr lang="it-IT" smtClean="0"/>
              <a:t>27/01/2025</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2821294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A9F4269A-A025-4D3E-928B-626560F61243}" type="datetimeFigureOut">
              <a:rPr lang="it-IT" smtClean="0"/>
              <a:t>27/01/2025</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1081447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p:cNvSpPr>
            <a:spLocks noGrp="1"/>
          </p:cNvSpPr>
          <p:nvPr>
            <p:ph type="dt" sz="half" idx="10"/>
          </p:nvPr>
        </p:nvSpPr>
        <p:spPr/>
        <p:txBody>
          <a:bodyPr/>
          <a:lstStyle/>
          <a:p>
            <a:fld id="{A9F4269A-A025-4D3E-928B-626560F61243}" type="datetimeFigureOut">
              <a:rPr lang="it-IT" smtClean="0"/>
              <a:t>27/01/2025</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3407018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Modifica gli stili del testo dello schema</a:t>
            </a:r>
          </a:p>
        </p:txBody>
      </p:sp>
      <p:sp>
        <p:nvSpPr>
          <p:cNvPr id="5" name="Segnaposto data 4"/>
          <p:cNvSpPr>
            <a:spLocks noGrp="1"/>
          </p:cNvSpPr>
          <p:nvPr>
            <p:ph type="dt" sz="half" idx="10"/>
          </p:nvPr>
        </p:nvSpPr>
        <p:spPr/>
        <p:txBody>
          <a:bodyPr/>
          <a:lstStyle/>
          <a:p>
            <a:fld id="{A9F4269A-A025-4D3E-928B-626560F61243}" type="datetimeFigureOut">
              <a:rPr lang="it-IT" smtClean="0"/>
              <a:t>27/01/2025</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2820307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9F4269A-A025-4D3E-928B-626560F61243}" type="datetimeFigureOut">
              <a:rPr lang="it-IT" smtClean="0"/>
              <a:t>27/01/2025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1832392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A9F4269A-A025-4D3E-928B-626560F61243}" type="datetimeFigureOut">
              <a:rPr lang="it-IT" smtClean="0"/>
              <a:t>27/01/2025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5FAF539A-7511-4484-9EA5-6E3F6A5CF546}" type="slidenum">
              <a:rPr lang="it-IT" smtClean="0"/>
              <a:t>‹N›</a:t>
            </a:fld>
            <a:endParaRPr lang="it-IT"/>
          </a:p>
        </p:txBody>
      </p:sp>
    </p:spTree>
    <p:extLst>
      <p:ext uri="{BB962C8B-B14F-4D97-AF65-F5344CB8AC3E}">
        <p14:creationId xmlns:p14="http://schemas.microsoft.com/office/powerpoint/2010/main" val="3361298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F4269A-A025-4D3E-928B-626560F61243}" type="datetimeFigureOut">
              <a:rPr lang="it-IT" smtClean="0"/>
              <a:t>27/01/2025</a:t>
            </a:fld>
            <a:endParaRPr lang="it-IT"/>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AF539A-7511-4484-9EA5-6E3F6A5CF546}" type="slidenum">
              <a:rPr lang="it-IT" smtClean="0"/>
              <a:t>‹N›</a:t>
            </a:fld>
            <a:endParaRPr lang="it-IT"/>
          </a:p>
        </p:txBody>
      </p:sp>
    </p:spTree>
    <p:extLst>
      <p:ext uri="{BB962C8B-B14F-4D97-AF65-F5344CB8AC3E}">
        <p14:creationId xmlns:p14="http://schemas.microsoft.com/office/powerpoint/2010/main" val="1304079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659423" y="1468315"/>
            <a:ext cx="10690380" cy="5284177"/>
          </a:xfrm>
        </p:spPr>
        <p:txBody>
          <a:bodyPr>
            <a:noAutofit/>
          </a:bodyPr>
          <a:lstStyle/>
          <a:p>
            <a:endParaRPr lang="it-IT" sz="7200" b="1" dirty="0">
              <a:solidFill>
                <a:schemeClr val="accent4">
                  <a:lumMod val="75000"/>
                </a:schemeClr>
              </a:solidFill>
              <a:latin typeface="Calibri Light" panose="020F0302020204030204"/>
              <a:ea typeface="+mj-ea"/>
              <a:cs typeface="+mj-cs"/>
            </a:endParaRPr>
          </a:p>
          <a:p>
            <a:r>
              <a:rPr lang="it-IT" sz="7200" b="1" dirty="0">
                <a:solidFill>
                  <a:schemeClr val="accent2">
                    <a:lumMod val="75000"/>
                  </a:schemeClr>
                </a:solidFill>
                <a:latin typeface="Calibri Light" panose="020F0302020204030204"/>
                <a:ea typeface="+mj-ea"/>
                <a:cs typeface="+mj-cs"/>
              </a:rPr>
              <a:t>   </a:t>
            </a:r>
            <a:r>
              <a:rPr lang="it-IT" sz="7200" b="1" dirty="0">
                <a:solidFill>
                  <a:schemeClr val="accent4">
                    <a:lumMod val="75000"/>
                  </a:schemeClr>
                </a:solidFill>
                <a:latin typeface="Calibri Light" panose="020F0302020204030204"/>
                <a:ea typeface="+mj-ea"/>
                <a:cs typeface="+mj-cs"/>
              </a:rPr>
              <a:t>Diritti della personalità </a:t>
            </a:r>
          </a:p>
          <a:p>
            <a:r>
              <a:rPr lang="it-IT" sz="3600" b="1" dirty="0"/>
              <a:t>II parte</a:t>
            </a:r>
          </a:p>
          <a:p>
            <a:r>
              <a:rPr lang="it-IT" sz="3600" b="1" cap="all" dirty="0"/>
              <a:t>Diritti all’integrità MORALE</a:t>
            </a:r>
          </a:p>
        </p:txBody>
      </p:sp>
    </p:spTree>
    <p:extLst>
      <p:ext uri="{BB962C8B-B14F-4D97-AF65-F5344CB8AC3E}">
        <p14:creationId xmlns:p14="http://schemas.microsoft.com/office/powerpoint/2010/main" val="2357229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0" y="79131"/>
            <a:ext cx="12192000" cy="6778869"/>
          </a:xfrm>
        </p:spPr>
        <p:txBody>
          <a:bodyPr>
            <a:noAutofit/>
          </a:bodyPr>
          <a:lstStyle/>
          <a:p>
            <a:br>
              <a:rPr lang="it-IT" sz="1400" b="1" dirty="0">
                <a:solidFill>
                  <a:srgbClr val="0070C0"/>
                </a:solidFill>
              </a:rPr>
            </a:br>
            <a:br>
              <a:rPr lang="it-IT" sz="1400" b="1" dirty="0"/>
            </a:br>
            <a:r>
              <a:rPr lang="it-IT" sz="1800" b="1" dirty="0">
                <a:solidFill>
                  <a:srgbClr val="0070C0"/>
                </a:solidFill>
              </a:rPr>
              <a:t>DIRITTI ALL’INTEGRITA’ MORALE</a:t>
            </a:r>
            <a:br>
              <a:rPr lang="it-IT" sz="1800" dirty="0">
                <a:solidFill>
                  <a:srgbClr val="0070C0"/>
                </a:solidFill>
              </a:rPr>
            </a:br>
            <a:br>
              <a:rPr lang="it-IT" sz="1400" dirty="0">
                <a:solidFill>
                  <a:srgbClr val="0070C0"/>
                </a:solidFill>
              </a:rPr>
            </a:br>
            <a:br>
              <a:rPr lang="it-IT" sz="1400" dirty="0">
                <a:solidFill>
                  <a:srgbClr val="0070C0"/>
                </a:solidFill>
              </a:rPr>
            </a:br>
            <a:r>
              <a:rPr lang="it-IT" sz="1400" b="1" i="1" dirty="0">
                <a:solidFill>
                  <a:srgbClr val="0070C0"/>
                </a:solidFill>
              </a:rPr>
              <a:t>DIRITTO AL NOME </a:t>
            </a:r>
            <a:br>
              <a:rPr lang="it-IT" sz="1400" b="1" i="1" dirty="0">
                <a:solidFill>
                  <a:srgbClr val="0070C0"/>
                </a:solidFill>
              </a:rPr>
            </a:br>
            <a:r>
              <a:rPr lang="it-IT" sz="1400" dirty="0"/>
              <a:t>-prenome e cognome (art. 6 c.c.);</a:t>
            </a:r>
            <a:br>
              <a:rPr lang="it-IT" sz="1400" dirty="0"/>
            </a:br>
            <a:r>
              <a:rPr lang="it-IT" sz="1400" dirty="0"/>
              <a:t> -pseudonimo, il cui uso abbia acquistato l’importanza del nome (art. 9 c.c.);</a:t>
            </a:r>
            <a:br>
              <a:rPr lang="it-IT" sz="1400" dirty="0"/>
            </a:br>
            <a:r>
              <a:rPr lang="it-IT" sz="1400" dirty="0"/>
              <a:t>-mezzi di tutela: azione inibitoria per la cessazione del fatto lesivo, di contestazione del diritto all’uso del proprio nome o di abuso che altri ne faccia; risarcimento dei danni e pubblicazione della sentenza sulla stampa (art. 7 c.c.);</a:t>
            </a:r>
            <a:br>
              <a:rPr lang="it-IT" sz="1400" dirty="0"/>
            </a:br>
            <a:r>
              <a:rPr lang="it-IT" sz="1400" dirty="0"/>
              <a:t>-a seguito della separazione personale, la moglie mantiene il cognome maritale, che ha aggiunto al proprio col matrimonio, ma il giudice può vietarne l’uso pregiudizievole (artt. 143 </a:t>
            </a:r>
            <a:r>
              <a:rPr lang="it-IT" sz="1400" i="1" dirty="0"/>
              <a:t>bis</a:t>
            </a:r>
            <a:r>
              <a:rPr lang="it-IT" sz="1400" dirty="0"/>
              <a:t> e 156 </a:t>
            </a:r>
            <a:r>
              <a:rPr lang="it-IT" sz="1400" i="1" dirty="0"/>
              <a:t>bis </a:t>
            </a:r>
            <a:r>
              <a:rPr lang="it-IT" sz="1400" dirty="0"/>
              <a:t>c.c.);</a:t>
            </a:r>
            <a:br>
              <a:rPr lang="it-IT" sz="1400" dirty="0"/>
            </a:br>
            <a:r>
              <a:rPr lang="it-IT" sz="1400" dirty="0"/>
              <a:t>-con la sentenza di divorzio, la moglie perde il cognome maritale, ma il giudice può autorizzare la donna che ne faccia richiesta a conservarlo per ragioni morali (art. 5, l. 898/1970); la donna divorziata può sempre continuare a usarlo, anche senza autorizzazione, se il cognome del marito è divenuto ormai suo segno distintivo in ambito professionale, artistico, industriale [caso Marta Marzotto]; l'uso del cognome dell'ex marito non può essere comunque lesivo [caso </a:t>
            </a:r>
            <a:r>
              <a:rPr lang="it-IT" sz="1400" dirty="0" err="1"/>
              <a:t>Punturieri</a:t>
            </a:r>
            <a:r>
              <a:rPr lang="it-IT" sz="1400" dirty="0"/>
              <a:t>: </a:t>
            </a:r>
            <a:r>
              <a:rPr lang="it-IT" sz="1400" dirty="0" err="1"/>
              <a:t>Trib</a:t>
            </a:r>
            <a:r>
              <a:rPr lang="it-IT" sz="1400" dirty="0"/>
              <a:t>. Roma 1985];</a:t>
            </a:r>
            <a:br>
              <a:rPr lang="it-IT" sz="1400" dirty="0"/>
            </a:br>
            <a:r>
              <a:rPr lang="it-IT" sz="1400" dirty="0"/>
              <a:t>-«furto d’identità»: occultamento, totale o parziale, della propria identità, mediante l'utilizzo indebito di dati relativi all'identità e al reddito di un altro soggetto, in vita o defunto (art. 30-</a:t>
            </a:r>
            <a:r>
              <a:rPr lang="it-IT" sz="1400" i="1" dirty="0"/>
              <a:t>bis</a:t>
            </a:r>
            <a:r>
              <a:rPr lang="it-IT" sz="1400" dirty="0"/>
              <a:t>, </a:t>
            </a:r>
            <a:r>
              <a:rPr lang="it-IT" sz="1400" dirty="0" err="1">
                <a:solidFill>
                  <a:prstClr val="black"/>
                </a:solidFill>
              </a:rPr>
              <a:t>D.Lgs.</a:t>
            </a:r>
            <a:r>
              <a:rPr lang="it-IT" sz="1400" dirty="0">
                <a:solidFill>
                  <a:prstClr val="black"/>
                </a:solidFill>
              </a:rPr>
              <a:t> 141/2010 e D.M. 19/5/2014, n. 95, per ridurre e combattere le frodi nel settore del credito al consumo e dei pagamenti differiti, per l’uso senza autorizzazione di dati personali).</a:t>
            </a:r>
            <a:br>
              <a:rPr lang="it-IT" sz="1400" dirty="0"/>
            </a:br>
            <a:br>
              <a:rPr lang="it-IT" sz="1400" dirty="0"/>
            </a:br>
            <a:r>
              <a:rPr lang="it-IT" sz="1400" b="1" i="1" dirty="0">
                <a:solidFill>
                  <a:srgbClr val="0070C0"/>
                </a:solidFill>
              </a:rPr>
              <a:t>DIRITTO ALL’IMMAGINE</a:t>
            </a:r>
            <a:br>
              <a:rPr lang="it-IT" sz="1400" i="1" dirty="0">
                <a:solidFill>
                  <a:srgbClr val="0070C0"/>
                </a:solidFill>
              </a:rPr>
            </a:br>
            <a:r>
              <a:rPr lang="it-IT" sz="1400" dirty="0"/>
              <a:t>-tutela del proprio ritratto, inteso come sembianze fisiche che siano all’esterno riconoscibili [secondo la giurisprudenza, anche caricatura, maschera scenica, sosia,</a:t>
            </a:r>
            <a:r>
              <a:rPr lang="it-IT" sz="1400" dirty="0">
                <a:solidFill>
                  <a:prstClr val="black"/>
                </a:solidFill>
              </a:rPr>
              <a:t> elementi iconici: </a:t>
            </a:r>
            <a:r>
              <a:rPr lang="it-IT" sz="1400" dirty="0"/>
              <a:t>casi Hepburn, Dalla, Totò];</a:t>
            </a:r>
            <a:br>
              <a:rPr lang="it-IT" sz="1400" dirty="0"/>
            </a:br>
            <a:r>
              <a:rPr lang="it-IT" sz="1400" dirty="0"/>
              <a:t>- il ritratto di una persona non può essere esposto, riprodotto o messo in commercio senza il consenso di questa (</a:t>
            </a:r>
            <a:r>
              <a:rPr lang="it-IT" sz="1400" dirty="0">
                <a:solidFill>
                  <a:prstClr val="black"/>
                </a:solidFill>
              </a:rPr>
              <a:t>art. 96, l. 633/1941);</a:t>
            </a:r>
            <a:br>
              <a:rPr lang="it-IT" sz="1400" dirty="0">
                <a:solidFill>
                  <a:prstClr val="black"/>
                </a:solidFill>
              </a:rPr>
            </a:br>
            <a:r>
              <a:rPr lang="it-IT" sz="1400" dirty="0">
                <a:solidFill>
                  <a:prstClr val="black"/>
                </a:solidFill>
              </a:rPr>
              <a:t>-il consenso della persona ritratta alla diffusione della sua immagine può anche essere tacito (es.: partecipazione volontaria a un programma televisivo), purché sia inequivocabilmente interpretabile in tal senso e per un uso che fosse prevedibile dall'interessato;</a:t>
            </a:r>
            <a:br>
              <a:rPr lang="it-IT" sz="1400" dirty="0">
                <a:solidFill>
                  <a:prstClr val="black"/>
                </a:solidFill>
              </a:rPr>
            </a:br>
            <a:r>
              <a:rPr lang="it-IT" sz="1400" dirty="0">
                <a:solidFill>
                  <a:prstClr val="black"/>
                </a:solidFill>
              </a:rPr>
              <a:t>-dopo la morte della persona ritratta, occorre il consenso dei famigliari e, se vi sia tra loro dissenso, decide il giudice [casi Hepburn, Totò]; è rispettata, in ogni caso, la volontà del defunto quando risulti da atto scritto </a:t>
            </a:r>
            <a:r>
              <a:rPr lang="it-IT" sz="1400" dirty="0"/>
              <a:t>(</a:t>
            </a:r>
            <a:r>
              <a:rPr lang="it-IT" sz="1400" dirty="0">
                <a:solidFill>
                  <a:prstClr val="black"/>
                </a:solidFill>
              </a:rPr>
              <a:t>art. 93, l. 633/1941);</a:t>
            </a:r>
            <a:br>
              <a:rPr lang="it-IT" sz="1400" dirty="0">
                <a:solidFill>
                  <a:prstClr val="black"/>
                </a:solidFill>
              </a:rPr>
            </a:br>
            <a:r>
              <a:rPr lang="it-IT" sz="1400" dirty="0">
                <a:solidFill>
                  <a:prstClr val="black"/>
                </a:solidFill>
              </a:rPr>
              <a:t>-</a:t>
            </a:r>
            <a:r>
              <a:rPr lang="it-IT" sz="1400" dirty="0"/>
              <a:t>diritto all’immagine, e diritto di cronaca (art. 21 Cost., art. </a:t>
            </a:r>
            <a:r>
              <a:rPr lang="it-IT" sz="1400" dirty="0">
                <a:solidFill>
                  <a:prstClr val="black"/>
                </a:solidFill>
              </a:rPr>
              <a:t>97, l. 633/1941</a:t>
            </a:r>
            <a:r>
              <a:rPr lang="it-IT" sz="1400" dirty="0"/>
              <a:t>): </a:t>
            </a:r>
            <a:r>
              <a:rPr lang="it-IT" sz="1400" dirty="0">
                <a:solidFill>
                  <a:prstClr val="black"/>
                </a:solidFill>
              </a:rPr>
              <a:t>non occorre il consenso, quando la riproduzione dell'immagine è giustificata dalla notorietà o dall'ufficio pubblico coperto, da necessità di giustizia o di polizia, da scopi scientifici, didattici o culturali, o quando la riproduzione è collegata a fatti, avvenimenti, cerimonie di interesse pubblico o svoltisi in pubblico, tranne che l'esposizione rechi pregiudizio all'onore, alla reputazione o al decoro della persona;</a:t>
            </a:r>
            <a:br>
              <a:rPr lang="it-IT" sz="1400" dirty="0"/>
            </a:br>
            <a:r>
              <a:rPr lang="it-IT" sz="1400" dirty="0">
                <a:solidFill>
                  <a:prstClr val="black"/>
                </a:solidFill>
              </a:rPr>
              <a:t>-mezzi di tutela: azione inibitoria per la cessazione del fatto lesivo, di pubblicazione o esposizione al di fuori dei casi consentiti dalla legge; risarcimento dei danni (art. 10 c.c.);</a:t>
            </a:r>
            <a:br>
              <a:rPr lang="it-IT" sz="1400" dirty="0"/>
            </a:br>
            <a:r>
              <a:rPr lang="it-IT" sz="1400" dirty="0"/>
              <a:t>-la titolarità del diritto rimane sempre alla persona (diritto indisponibile), che, però, può cederne l’esercizio ad altri, volontariamente e temporaneamente, mediante negozi giuridici per fini di lucro (contratti di sponsorizzazione, testimonial).</a:t>
            </a:r>
            <a:br>
              <a:rPr lang="it-IT" sz="1400" dirty="0"/>
            </a:br>
            <a:br>
              <a:rPr lang="it-IT" sz="1400" dirty="0"/>
            </a:br>
            <a:endParaRPr lang="it-IT" sz="1400" dirty="0"/>
          </a:p>
        </p:txBody>
      </p:sp>
    </p:spTree>
    <p:extLst>
      <p:ext uri="{BB962C8B-B14F-4D97-AF65-F5344CB8AC3E}">
        <p14:creationId xmlns:p14="http://schemas.microsoft.com/office/powerpoint/2010/main" val="1494587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196640" y="-1554"/>
            <a:ext cx="11909158" cy="6431782"/>
          </a:xfrm>
        </p:spPr>
        <p:txBody>
          <a:bodyPr>
            <a:normAutofit fontScale="90000"/>
          </a:bodyPr>
          <a:lstStyle/>
          <a:p>
            <a:r>
              <a:rPr lang="it-IT" sz="2000" dirty="0">
                <a:solidFill>
                  <a:srgbClr val="0070C0"/>
                </a:solidFill>
              </a:rPr>
              <a:t>(</a:t>
            </a:r>
            <a:r>
              <a:rPr lang="it-IT" sz="2000" i="1" dirty="0">
                <a:solidFill>
                  <a:srgbClr val="0070C0"/>
                </a:solidFill>
              </a:rPr>
              <a:t>segue</a:t>
            </a:r>
            <a:r>
              <a:rPr lang="it-IT" sz="2000" dirty="0">
                <a:solidFill>
                  <a:srgbClr val="0070C0"/>
                </a:solidFill>
              </a:rPr>
              <a:t>) </a:t>
            </a:r>
            <a:r>
              <a:rPr lang="it-IT" sz="2000" b="1" dirty="0">
                <a:solidFill>
                  <a:srgbClr val="0070C0"/>
                </a:solidFill>
              </a:rPr>
              <a:t>DIRITTI ALL’INTEGRITA’ MORALE</a:t>
            </a:r>
            <a:br>
              <a:rPr lang="it-IT" sz="1600" dirty="0">
                <a:solidFill>
                  <a:srgbClr val="0070C0"/>
                </a:solidFill>
              </a:rPr>
            </a:br>
            <a:br>
              <a:rPr lang="it-IT" sz="1600" dirty="0">
                <a:solidFill>
                  <a:srgbClr val="0070C0"/>
                </a:solidFill>
              </a:rPr>
            </a:br>
            <a:br>
              <a:rPr lang="it-IT" sz="1400" i="1" dirty="0">
                <a:solidFill>
                  <a:srgbClr val="0070C0"/>
                </a:solidFill>
              </a:rPr>
            </a:br>
            <a:r>
              <a:rPr lang="it-IT" sz="1600" b="1" i="1" dirty="0">
                <a:solidFill>
                  <a:srgbClr val="0070C0"/>
                </a:solidFill>
              </a:rPr>
              <a:t>DIRITTO ALL’IDENTITA’ PERSONALE (art. 2 Cost.)</a:t>
            </a:r>
            <a:br>
              <a:rPr lang="it-IT" sz="1600" b="1" i="1" dirty="0">
                <a:solidFill>
                  <a:srgbClr val="0070C0"/>
                </a:solidFill>
              </a:rPr>
            </a:br>
            <a:r>
              <a:rPr lang="it-IT" sz="1600" b="1" i="1" dirty="0">
                <a:solidFill>
                  <a:srgbClr val="0070C0"/>
                </a:solidFill>
              </a:rPr>
              <a:t>- </a:t>
            </a:r>
            <a:r>
              <a:rPr lang="it-IT" sz="1600" dirty="0"/>
              <a:t>proiezione sociale (immagine sociale) della personalità dell’individuo, il quale ha interesse ad essere rappresentato, nella vita di relazione, con la sua vera identità e, cioè, a non vedere modificato, offuscato o, comunque, alterato o travisato all’esterno il proprio patrimonio intellettuale, ideologico, politico, etico, religioso, professionale, </a:t>
            </a:r>
            <a:r>
              <a:rPr lang="it-IT" sz="1600" i="1" dirty="0"/>
              <a:t>etc.</a:t>
            </a:r>
            <a:r>
              <a:rPr lang="it-IT" sz="1600" dirty="0"/>
              <a:t>, come già estrinsecatosi (o destinato ad estrinsecarsi) nell’ambiente sociale e, ciò, secondo indici di previsione costituiti da circostanze obiettive ed univoche;</a:t>
            </a:r>
            <a:br>
              <a:rPr lang="it-IT" sz="1600" dirty="0">
                <a:solidFill>
                  <a:prstClr val="black"/>
                </a:solidFill>
              </a:rPr>
            </a:br>
            <a:r>
              <a:rPr lang="it-IT" sz="1600" dirty="0"/>
              <a:t>-diritto all’identità sessuale di genere (l. 164/1982 + Cass., 15138/2015, C. cost., 221/2015 e C. cost., 180/2017:  il trattamento chirurgico non è prerequisito per </a:t>
            </a:r>
            <a:r>
              <a:rPr lang="it-IT" sz="1600"/>
              <a:t>accedere al procedimento di rettificazione, essendo sufficienti trattamenti ormonali);</a:t>
            </a:r>
            <a:br>
              <a:rPr lang="it-IT" sz="1600" dirty="0">
                <a:solidFill>
                  <a:prstClr val="black"/>
                </a:solidFill>
              </a:rPr>
            </a:br>
            <a:r>
              <a:rPr lang="it-IT" sz="1600"/>
              <a:t>-diritto all’identità familiare dell’adottato (art. 28, l. 184/1983 e C. cost., 278/2013);</a:t>
            </a:r>
            <a:br>
              <a:rPr lang="it-IT" sz="1600" dirty="0">
                <a:cs typeface="Calibri Light"/>
              </a:rPr>
            </a:br>
            <a:r>
              <a:rPr lang="it-IT" sz="1600">
                <a:solidFill>
                  <a:srgbClr val="000000"/>
                </a:solidFill>
                <a:cs typeface="Calibri Light"/>
              </a:rPr>
              <a:t>-diritto all'identità familiare già acquisita, che va contemperato col </a:t>
            </a:r>
            <a:r>
              <a:rPr lang="it-IT" sz="1600" i="1">
                <a:solidFill>
                  <a:srgbClr val="000000"/>
                </a:solidFill>
                <a:cs typeface="Calibri Light"/>
              </a:rPr>
              <a:t>favor </a:t>
            </a:r>
            <a:r>
              <a:rPr lang="it-IT" sz="1600" i="1" err="1">
                <a:solidFill>
                  <a:srgbClr val="000000"/>
                </a:solidFill>
                <a:cs typeface="Calibri Light"/>
              </a:rPr>
              <a:t>veritatis</a:t>
            </a:r>
            <a:r>
              <a:rPr lang="it-IT" sz="1600" i="1">
                <a:solidFill>
                  <a:srgbClr val="000000"/>
                </a:solidFill>
                <a:cs typeface="Calibri Light"/>
              </a:rPr>
              <a:t>, </a:t>
            </a:r>
            <a:r>
              <a:rPr lang="it-IT" sz="1600">
                <a:solidFill>
                  <a:srgbClr val="000000"/>
                </a:solidFill>
                <a:cs typeface="Calibri Light"/>
              </a:rPr>
              <a:t>ossia la</a:t>
            </a:r>
            <a:r>
              <a:rPr lang="it-IT" sz="1600" i="1">
                <a:solidFill>
                  <a:srgbClr val="000000"/>
                </a:solidFill>
                <a:cs typeface="Calibri Light"/>
              </a:rPr>
              <a:t> </a:t>
            </a:r>
            <a:r>
              <a:rPr lang="it-IT" sz="1600">
                <a:solidFill>
                  <a:srgbClr val="000000"/>
                </a:solidFill>
                <a:cs typeface="Calibri Light"/>
              </a:rPr>
              <a:t>verità biologica della filiazione (C. cost. 127/2020 e Cass. 3252/2022, in riferimento all'azione di un terzo interessato </a:t>
            </a:r>
            <a:r>
              <a:rPr lang="it-IT" sz="1600" i="1">
                <a:solidFill>
                  <a:srgbClr val="000000"/>
                </a:solidFill>
                <a:cs typeface="Calibri Light"/>
              </a:rPr>
              <a:t>ex </a:t>
            </a:r>
            <a:r>
              <a:rPr lang="it-IT" sz="1600">
                <a:solidFill>
                  <a:srgbClr val="000000"/>
                </a:solidFill>
                <a:cs typeface="Calibri Light"/>
              </a:rPr>
              <a:t>art. 263 c.c.).</a:t>
            </a:r>
            <a:br>
              <a:rPr lang="it-IT" sz="1600" dirty="0">
                <a:solidFill>
                  <a:srgbClr val="0070C0"/>
                </a:solidFill>
              </a:rPr>
            </a:br>
            <a:br>
              <a:rPr lang="it-IT" sz="1600" dirty="0">
                <a:solidFill>
                  <a:srgbClr val="0070C0"/>
                </a:solidFill>
              </a:rPr>
            </a:br>
            <a:br>
              <a:rPr lang="it-IT" sz="1600" dirty="0">
                <a:solidFill>
                  <a:srgbClr val="0070C0"/>
                </a:solidFill>
              </a:rPr>
            </a:br>
            <a:r>
              <a:rPr lang="it-IT" sz="1600" b="1" i="1">
                <a:solidFill>
                  <a:srgbClr val="0070C0"/>
                </a:solidFill>
              </a:rPr>
              <a:t>DIRITTO ALL’ONORE E ALLA REPUTAZIONE (art. 2 Cost.)</a:t>
            </a:r>
            <a:br>
              <a:rPr lang="it-IT" sz="1600" b="1" i="1" dirty="0">
                <a:solidFill>
                  <a:srgbClr val="0070C0"/>
                </a:solidFill>
              </a:rPr>
            </a:br>
            <a:r>
              <a:rPr lang="it-IT" sz="1600"/>
              <a:t>-ingiuria (offesa in "presenza" della persona): illecito civile sottoposto a sanzione pecuniaria (</a:t>
            </a:r>
            <a:r>
              <a:rPr lang="it-IT" sz="1600" dirty="0" err="1"/>
              <a:t>D.Lgs.</a:t>
            </a:r>
            <a:r>
              <a:rPr lang="it-IT" sz="1600" dirty="0"/>
              <a:t> 15.1.2016, n. 7);</a:t>
            </a:r>
            <a:br>
              <a:rPr lang="it-IT" sz="1600" dirty="0"/>
            </a:br>
            <a:r>
              <a:rPr lang="it-IT" sz="1600" dirty="0"/>
              <a:t>-reato di diffamazione (persona "assente", comunicando con più persone e con eventuali aggravanti: art. 595 c.p.);</a:t>
            </a:r>
            <a:br>
              <a:rPr lang="it-IT" sz="1600" dirty="0"/>
            </a:br>
            <a:r>
              <a:rPr lang="it-IT" sz="1600" dirty="0"/>
              <a:t>-libertà e dignità del lavoratore nei luoghi di lavoro (L. 300/1970) e retribuzione sufficiente a garantire un’esistenza libera e dignitosa (art. 36 Cost.);</a:t>
            </a:r>
            <a:br>
              <a:rPr lang="it-IT" sz="1600" dirty="0"/>
            </a:br>
            <a:r>
              <a:rPr lang="it-IT" sz="1600" b="1" i="1" dirty="0">
                <a:solidFill>
                  <a:srgbClr val="0070C0"/>
                </a:solidFill>
              </a:rPr>
              <a:t>-</a:t>
            </a:r>
            <a:r>
              <a:rPr lang="it-IT" sz="1600" dirty="0"/>
              <a:t>immagine professionale (o sociale, o commerciale), come valutazione che la comunità sociale dà di un soggetto o di un ente in un determinato contesto; secondo la </a:t>
            </a:r>
            <a:r>
              <a:rPr lang="it-IT" sz="1600"/>
              <a:t>giurisprudenza, la sua lesione può dar luogo al risarcimento dei danni sia patrimoniali, sia non patrimoniali.</a:t>
            </a:r>
            <a:br>
              <a:rPr lang="it-IT" sz="1600" dirty="0"/>
            </a:br>
            <a:br>
              <a:rPr lang="it-IT" sz="1600" b="1" i="1" dirty="0">
                <a:solidFill>
                  <a:srgbClr val="0070C0"/>
                </a:solidFill>
              </a:rPr>
            </a:br>
            <a:br>
              <a:rPr lang="it-IT" sz="1600" i="1" dirty="0">
                <a:solidFill>
                  <a:srgbClr val="0070C0"/>
                </a:solidFill>
              </a:rPr>
            </a:br>
            <a:r>
              <a:rPr lang="it-IT" sz="1600" b="1" i="1">
                <a:solidFill>
                  <a:srgbClr val="0070C0"/>
                </a:solidFill>
              </a:rPr>
              <a:t>DIRITTO ALLA RISERVATEZZA (PRIVACY)</a:t>
            </a:r>
            <a:br>
              <a:rPr lang="it-IT" sz="1600" i="1" dirty="0">
                <a:solidFill>
                  <a:srgbClr val="0070C0"/>
                </a:solidFill>
              </a:rPr>
            </a:br>
            <a:r>
              <a:rPr lang="it-IT" sz="1600"/>
              <a:t>-inviolabilità del domicilio (art. 14 Cost.);</a:t>
            </a:r>
            <a:br>
              <a:rPr lang="it-IT" sz="1600" dirty="0"/>
            </a:br>
            <a:r>
              <a:rPr lang="it-IT" sz="1600"/>
              <a:t>-libertà e segretezza della corrispondenza (art. 15 Cost.);</a:t>
            </a:r>
            <a:br>
              <a:rPr lang="it-IT" sz="1600" dirty="0"/>
            </a:br>
            <a:r>
              <a:rPr lang="it-IT" sz="1600"/>
              <a:t>-vita individuale e familiare (art. 8 CEDU);</a:t>
            </a:r>
            <a:br>
              <a:rPr lang="it-IT" sz="1600" dirty="0"/>
            </a:br>
            <a:r>
              <a:rPr lang="it-IT" sz="1600"/>
              <a:t>-contemperamento con il diritto di cronaca (art. 21 Cost.); </a:t>
            </a:r>
            <a:r>
              <a:rPr lang="it-IT" sz="1600">
                <a:ea typeface="Calibri Light"/>
                <a:cs typeface="Calibri Light"/>
              </a:rPr>
              <a:t>diritto all'oblio e deindicizzazione (Cass., S.U., 19681/2019 e Cass. 36021/2023);</a:t>
            </a:r>
            <a:br>
              <a:rPr lang="it-IT" sz="1600" dirty="0"/>
            </a:br>
            <a:r>
              <a:rPr lang="it-IT" sz="1600"/>
              <a:t>-trattamento dei dati personali (art. 8 Carta di Nizza+ Reg. UE 679/2016+ </a:t>
            </a:r>
            <a:r>
              <a:rPr lang="it-IT" sz="1600" err="1"/>
              <a:t>D.Lgs.</a:t>
            </a:r>
            <a:r>
              <a:rPr lang="it-IT" sz="1600"/>
              <a:t> 196/2003, modificato dal </a:t>
            </a:r>
            <a:r>
              <a:rPr lang="it-IT" sz="1600" dirty="0" err="1"/>
              <a:t>D.Lgs.</a:t>
            </a:r>
            <a:r>
              <a:rPr lang="it-IT" sz="1600" dirty="0"/>
              <a:t> 101/2018). </a:t>
            </a:r>
            <a:br>
              <a:rPr lang="it-IT" sz="1600" dirty="0"/>
            </a:br>
            <a:endParaRPr lang="it-IT" sz="1600" dirty="0"/>
          </a:p>
        </p:txBody>
      </p:sp>
    </p:spTree>
    <p:extLst>
      <p:ext uri="{BB962C8B-B14F-4D97-AF65-F5344CB8AC3E}">
        <p14:creationId xmlns:p14="http://schemas.microsoft.com/office/powerpoint/2010/main" val="220595702"/>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2067</TotalTime>
  <Words>16</Words>
  <Application>Microsoft Office PowerPoint</Application>
  <PresentationFormat>Widescreen</PresentationFormat>
  <Paragraphs>6</Paragraphs>
  <Slides>3</Slides>
  <Notes>0</Notes>
  <HiddenSlides>0</HiddenSlides>
  <MMClips>0</MMClips>
  <ScaleCrop>false</ScaleCrop>
  <HeadingPairs>
    <vt:vector size="4" baseType="variant">
      <vt:variant>
        <vt:lpstr>Tema</vt:lpstr>
      </vt:variant>
      <vt:variant>
        <vt:i4>1</vt:i4>
      </vt:variant>
      <vt:variant>
        <vt:lpstr>Titoli diapositive</vt:lpstr>
      </vt:variant>
      <vt:variant>
        <vt:i4>3</vt:i4>
      </vt:variant>
    </vt:vector>
  </HeadingPairs>
  <TitlesOfParts>
    <vt:vector size="4" baseType="lpstr">
      <vt:lpstr>Tema di Office</vt:lpstr>
      <vt:lpstr>Presentazione standard di PowerPoint</vt:lpstr>
      <vt:lpstr>  DIRITTI ALL’INTEGRITA’ MORALE   DIRITTO AL NOME  -prenome e cognome (art. 6 c.c.);  -pseudonimo, il cui uso abbia acquistato l’importanza del nome (art. 9 c.c.); -mezzi di tutela: azione inibitoria per la cessazione del fatto lesivo, di contestazione del diritto all’uso del proprio nome o di abuso che altri ne faccia; risarcimento dei danni e pubblicazione della sentenza sulla stampa (art. 7 c.c.); -a seguito della separazione personale, la moglie mantiene il cognome maritale, che ha aggiunto al proprio col matrimonio, ma il giudice può vietarne l’uso pregiudizievole (artt. 143 bis e 156 bis c.c.); -con la sentenza di divorzio, la moglie perde il cognome maritale, ma il giudice può autorizzare la donna che ne faccia richiesta a conservarlo per ragioni morali (art. 5, l. 898/1970); la donna divorziata può sempre continuare a usarlo, anche senza autorizzazione, se il cognome del marito è divenuto ormai suo segno distintivo in ambito professionale, artistico, industriale [caso Marta Marzotto]; l'uso del cognome dell'ex marito non può essere comunque lesivo [caso Punturieri: Trib. Roma 1985]; -«furto d’identità»: occultamento, totale o parziale, della propria identità, mediante l'utilizzo indebito di dati relativi all'identità e al reddito di un altro soggetto, in vita o defunto (art. 30-bis, D.Lgs. 141/2010 e D.M. 19/5/2014, n. 95, per ridurre e combattere le frodi nel settore del credito al consumo e dei pagamenti differiti, per l’uso senza autorizzazione di dati personali).  DIRITTO ALL’IMMAGINE -tutela del proprio ritratto, inteso come sembianze fisiche che siano all’esterno riconoscibili [secondo la giurisprudenza, anche caricatura, maschera scenica, sosia, elementi iconici: casi Hepburn, Dalla, Totò]; - il ritratto di una persona non può essere esposto, riprodotto o messo in commercio senza il consenso di questa (art. 96, l. 633/1941); -il consenso della persona ritratta alla diffusione della sua immagine può anche essere tacito (es.: partecipazione volontaria a un programma televisivo), purché sia inequivocabilmente interpretabile in tal senso e per un uso che fosse prevedibile dall'interessato; -dopo la morte della persona ritratta, occorre il consenso dei famigliari e, se vi sia tra loro dissenso, decide il giudice [casi Hepburn, Totò]; è rispettata, in ogni caso, la volontà del defunto quando risulti da atto scritto (art. 93, l. 633/1941); -diritto all’immagine, e diritto di cronaca (art. 21 Cost., art. 97, l. 633/1941): non occorre il consenso, quando la riproduzione dell'immagine è giustificata dalla notorietà o dall'ufficio pubblico coperto, da necessità di giustizia o di polizia, da scopi scientifici, didattici o culturali, o quando la riproduzione è collegata a fatti, avvenimenti, cerimonie di interesse pubblico o svoltisi in pubblico, tranne che l'esposizione rechi pregiudizio all'onore, alla reputazione o al decoro della persona; -mezzi di tutela: azione inibitoria per la cessazione del fatto lesivo, di pubblicazione o esposizione al di fuori dei casi consentiti dalla legge; risarcimento dei danni (art. 10 c.c.); -la titolarità del diritto rimane sempre alla persona (diritto indisponibile), che, però, può cederne l’esercizio ad altri, volontariamente e temporaneamente, mediante negozi giuridici per fini di lucro (contratti di sponsorizzazione, testimonial).  </vt:lpstr>
      <vt:lpstr>(segue) DIRITTI ALL’INTEGRITA’ MORALE   DIRITTO ALL’IDENTITA’ PERSONALE (art. 2 Cost.) - proiezione sociale (immagine sociale) della personalità dell’individuo, il quale ha interesse ad essere rappresentato, nella vita di relazione, con la sua vera identità e, cioè, a non vedere modificato, offuscato o, comunque, alterato o travisato all’esterno il proprio patrimonio intellettuale, ideologico, politico, etico, religioso, professionale, etc., come già estrinsecatosi (o destinato ad estrinsecarsi) nell’ambiente sociale e, ciò, secondo indici di previsione costituiti da circostanze obiettive ed univoche; -diritto all’identità sessuale di genere (l. 164/1982 + Cass., 15138/2015, C. cost., 221/2015 e C. cost., 180/2017:  il trattamento chirurgico non è prerequisito per accedere al procedimento di rettificazione, essendo sufficienti trattamenti ormonali); -diritto all’identità familiare dell’adottato (art. 28, l. 184/1983 e C. cost., 278/2013); -diritto all'identità familiare già acquisita, che va contemperato col favor veritatis, ossia la verità biologica della filiazione (C. cost. 127/2020 e Cass. 3252/2022, in riferimento all'azione di un terzo interessato ex art. 263 c.c.).   DIRITTO ALL’ONORE E ALLA REPUTAZIONE (art. 2 Cost.) -ingiuria (offesa in "presenza" della persona): illecito civile sottoposto a sanzione pecuniaria (D.Lgs. 15.1.2016, n. 7); -reato di diffamazione (persona "assente", comunicando con più persone e con eventuali aggravanti: art. 595 c.p.); -libertà e dignità del lavoratore nei luoghi di lavoro (L. 300/1970) e retribuzione sufficiente a garantire un’esistenza libera e dignitosa (art. 36 Cost.); -immagine professionale (o sociale, o commerciale), come valutazione che la comunità sociale dà di un soggetto o di un ente in un determinato contesto; secondo la giurisprudenza, la sua lesione può dar luogo al risarcimento dei danni sia patrimoniali, sia non patrimoniali.   DIRITTO ALLA RISERVATEZZA (PRIVACY) -inviolabilità del domicilio (art. 14 Cost.); -libertà e segretezza della corrispondenza (art. 15 Cost.); -vita individuale e familiare (art. 8 CEDU); -contemperamento con il diritto di cronaca (art. 21 Cost.); diritto all'oblio e deindicizzazione (Cass., S.U., 19681/2019 e Cass. 36021/2023); -trattamento dei dati personali (art. 8 Carta di Nizza+ Reg. UE 679/2016+ D.Lgs. 196/2003, modificato dal D.Lgs. 101/2018).  </vt:lpstr>
    </vt:vector>
  </TitlesOfParts>
  <Company>Università Degli Studi Di Parma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INTERDETTO GIUDIZIALE -PRESUPPOSTI (artt. 414 ss.):  -la maggiore età o l’emancipazione, e l’abituale e grave infermità di mente.  -TUTELA (artt. 424 e 343 c.c. ss.):  - organi dell’ufficio tutelare: giudice tutelare, tutore, protutore; - il tutore è nominato dal giudice tutelare (art. 346 c.c.) o dal Tribunale dei Minori, se il minore è in stato di adottabilità (art. 19, l. 184/1983);  - il tutore ha la cura della persona ed è un rappresentante legale (art. 357 cc.) in tutti gli atti civili; -per gli atti di straordinaria amministrazione sul patrimonio del minore, il tutore abbisogna dell’autorizzazione del giudice tutelare (art. 374 c.c.) o del tribunale (art. 375 c.c.).  -MATRIMONIO E TESTAMENTO (atti personalissimi): -.</dc:title>
  <dc:creator>unipr</dc:creator>
  <cp:lastModifiedBy>Coppola Cristina</cp:lastModifiedBy>
  <cp:revision>205</cp:revision>
  <dcterms:created xsi:type="dcterms:W3CDTF">2020-03-02T14:53:55Z</dcterms:created>
  <dcterms:modified xsi:type="dcterms:W3CDTF">2025-01-27T10:03:00Z</dcterms:modified>
</cp:coreProperties>
</file>