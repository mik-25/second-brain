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90" r:id="rId2"/>
    <p:sldId id="322" r:id="rId3"/>
    <p:sldId id="321" r:id="rId4"/>
    <p:sldId id="323" r:id="rId5"/>
    <p:sldId id="324" r:id="rId6"/>
    <p:sldId id="325" r:id="rId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4F4AF0-2C26-4A98-9747-226DDA28E13F}" v="12" dt="2023-10-31T08:34:13.727"/>
    <p1510:client id="{FB835B89-6C5E-4280-8E50-EC18C6817DA8}" v="80" dt="2023-11-14T08:47:08.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79945" autoAdjust="0"/>
  </p:normalViewPr>
  <p:slideViewPr>
    <p:cSldViewPr snapToGrid="0">
      <p:cViewPr varScale="1">
        <p:scale>
          <a:sx n="91" d="100"/>
          <a:sy n="91" d="100"/>
        </p:scale>
        <p:origin x="13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na COPPOLA" userId="S::cristina.coppola@unipr.it::72f36167-ecc3-45ce-8753-f8af594e8b05" providerId="AD" clId="Web-{FB835B89-6C5E-4280-8E50-EC18C6817DA8}"/>
    <pc:docChg chg="modSld">
      <pc:chgData name="Cristina COPPOLA" userId="S::cristina.coppola@unipr.it::72f36167-ecc3-45ce-8753-f8af594e8b05" providerId="AD" clId="Web-{FB835B89-6C5E-4280-8E50-EC18C6817DA8}" dt="2023-11-14T08:47:08.858" v="76" actId="20577"/>
      <pc:docMkLst>
        <pc:docMk/>
      </pc:docMkLst>
      <pc:sldChg chg="addSp delSp modSp">
        <pc:chgData name="Cristina COPPOLA" userId="S::cristina.coppola@unipr.it::72f36167-ecc3-45ce-8753-f8af594e8b05" providerId="AD" clId="Web-{FB835B89-6C5E-4280-8E50-EC18C6817DA8}" dt="2023-11-14T08:44:40.677" v="21" actId="20577"/>
        <pc:sldMkLst>
          <pc:docMk/>
          <pc:sldMk cId="533454718" sldId="324"/>
        </pc:sldMkLst>
        <pc:spChg chg="add del mod">
          <ac:chgData name="Cristina COPPOLA" userId="S::cristina.coppola@unipr.it::72f36167-ecc3-45ce-8753-f8af594e8b05" providerId="AD" clId="Web-{FB835B89-6C5E-4280-8E50-EC18C6817DA8}" dt="2023-11-14T08:44:40.677" v="21" actId="20577"/>
          <ac:spMkLst>
            <pc:docMk/>
            <pc:sldMk cId="533454718" sldId="324"/>
            <ac:spMk id="3" creationId="{00000000-0000-0000-0000-000000000000}"/>
          </ac:spMkLst>
        </pc:spChg>
        <pc:spChg chg="add del mod">
          <ac:chgData name="Cristina COPPOLA" userId="S::cristina.coppola@unipr.it::72f36167-ecc3-45ce-8753-f8af594e8b05" providerId="AD" clId="Web-{FB835B89-6C5E-4280-8E50-EC18C6817DA8}" dt="2023-11-14T08:44:03.535" v="17"/>
          <ac:spMkLst>
            <pc:docMk/>
            <pc:sldMk cId="533454718" sldId="324"/>
            <ac:spMk id="5" creationId="{272B25A1-D70B-F65A-BBCE-A75AA5380310}"/>
          </ac:spMkLst>
        </pc:spChg>
      </pc:sldChg>
      <pc:sldChg chg="modSp">
        <pc:chgData name="Cristina COPPOLA" userId="S::cristina.coppola@unipr.it::72f36167-ecc3-45ce-8753-f8af594e8b05" providerId="AD" clId="Web-{FB835B89-6C5E-4280-8E50-EC18C6817DA8}" dt="2023-11-14T08:47:08.858" v="76" actId="20577"/>
        <pc:sldMkLst>
          <pc:docMk/>
          <pc:sldMk cId="956836864" sldId="325"/>
        </pc:sldMkLst>
        <pc:spChg chg="mod">
          <ac:chgData name="Cristina COPPOLA" userId="S::cristina.coppola@unipr.it::72f36167-ecc3-45ce-8753-f8af594e8b05" providerId="AD" clId="Web-{FB835B89-6C5E-4280-8E50-EC18C6817DA8}" dt="2023-11-14T08:47:08.858" v="76" actId="20577"/>
          <ac:spMkLst>
            <pc:docMk/>
            <pc:sldMk cId="956836864" sldId="32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5A7879-B93E-4B5E-85EC-FA03953E646B}" type="datetimeFigureOut">
              <a:rPr lang="it-IT" smtClean="0"/>
              <a:t>21/11/2023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7C9EE7-0F3B-4294-B073-227F71F32840}" type="slidenum">
              <a:rPr lang="it-IT" smtClean="0"/>
              <a:t>‹N›</a:t>
            </a:fld>
            <a:endParaRPr lang="it-IT"/>
          </a:p>
        </p:txBody>
      </p:sp>
    </p:spTree>
    <p:extLst>
      <p:ext uri="{BB962C8B-B14F-4D97-AF65-F5344CB8AC3E}">
        <p14:creationId xmlns:p14="http://schemas.microsoft.com/office/powerpoint/2010/main" val="1640015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C87C9EE7-0F3B-4294-B073-227F71F32840}" type="slidenum">
              <a:rPr lang="it-IT" smtClean="0"/>
              <a:t>1</a:t>
            </a:fld>
            <a:endParaRPr lang="it-IT"/>
          </a:p>
        </p:txBody>
      </p:sp>
    </p:spTree>
    <p:extLst>
      <p:ext uri="{BB962C8B-B14F-4D97-AF65-F5344CB8AC3E}">
        <p14:creationId xmlns:p14="http://schemas.microsoft.com/office/powerpoint/2010/main" val="2379582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A9F4269A-A025-4D3E-928B-626560F61243}" type="datetimeFigureOut">
              <a:rPr lang="it-IT" smtClean="0"/>
              <a:t>21/11/2023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3638668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9F4269A-A025-4D3E-928B-626560F61243}" type="datetimeFigureOut">
              <a:rPr lang="it-IT" smtClean="0"/>
              <a:t>21/11/2023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940298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p:cNvSpPr>
            <a:spLocks noGrp="1"/>
          </p:cNvSpPr>
          <p:nvPr>
            <p:ph type="dt" sz="half" idx="10"/>
          </p:nvPr>
        </p:nvSpPr>
        <p:spPr/>
        <p:txBody>
          <a:bodyPr/>
          <a:lstStyle/>
          <a:p>
            <a:fld id="{A9F4269A-A025-4D3E-928B-626560F61243}" type="datetimeFigureOut">
              <a:rPr lang="it-IT" smtClean="0"/>
              <a:t>21/11/2023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669470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A9F4269A-A025-4D3E-928B-626560F61243}" type="datetimeFigureOut">
              <a:rPr lang="it-IT" smtClean="0"/>
              <a:t>21/11/2023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2778995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A9F4269A-A025-4D3E-928B-626560F61243}" type="datetimeFigureOut">
              <a:rPr lang="it-IT" smtClean="0"/>
              <a:t>21/11/2023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577409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A9F4269A-A025-4D3E-928B-626560F61243}" type="datetimeFigureOut">
              <a:rPr lang="it-IT" smtClean="0"/>
              <a:t>21/11/2023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2821294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9F4269A-A025-4D3E-928B-626560F61243}" type="datetimeFigureOut">
              <a:rPr lang="it-IT" smtClean="0"/>
              <a:t>21/11/2023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1081447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A9F4269A-A025-4D3E-928B-626560F61243}" type="datetimeFigureOut">
              <a:rPr lang="it-IT" smtClean="0"/>
              <a:t>21/11/2023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3407018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A9F4269A-A025-4D3E-928B-626560F61243}" type="datetimeFigureOut">
              <a:rPr lang="it-IT" smtClean="0"/>
              <a:t>21/11/2023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2820307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9F4269A-A025-4D3E-928B-626560F61243}" type="datetimeFigureOut">
              <a:rPr lang="it-IT" smtClean="0"/>
              <a:t>21/11/2023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183239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9F4269A-A025-4D3E-928B-626560F61243}" type="datetimeFigureOut">
              <a:rPr lang="it-IT" smtClean="0"/>
              <a:t>21/11/2023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3361298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F4269A-A025-4D3E-928B-626560F61243}" type="datetimeFigureOut">
              <a:rPr lang="it-IT" smtClean="0"/>
              <a:t>21/11/2023</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F539A-7511-4484-9EA5-6E3F6A5CF546}" type="slidenum">
              <a:rPr lang="it-IT" smtClean="0"/>
              <a:t>‹N›</a:t>
            </a:fld>
            <a:endParaRPr lang="it-IT"/>
          </a:p>
        </p:txBody>
      </p:sp>
    </p:spTree>
    <p:extLst>
      <p:ext uri="{BB962C8B-B14F-4D97-AF65-F5344CB8AC3E}">
        <p14:creationId xmlns:p14="http://schemas.microsoft.com/office/powerpoint/2010/main" val="1304079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586409" y="1200149"/>
            <a:ext cx="10763393" cy="5657851"/>
          </a:xfrm>
        </p:spPr>
        <p:txBody>
          <a:bodyPr>
            <a:noAutofit/>
          </a:bodyPr>
          <a:lstStyle/>
          <a:p>
            <a:endParaRPr lang="it-IT" sz="5400" b="1" dirty="0">
              <a:solidFill>
                <a:schemeClr val="accent4"/>
              </a:solidFill>
              <a:latin typeface="+mj-lt"/>
              <a:ea typeface="+mj-ea"/>
              <a:cs typeface="+mj-cs"/>
            </a:endParaRPr>
          </a:p>
          <a:p>
            <a:r>
              <a:rPr lang="it-IT" sz="5400" b="1" dirty="0">
                <a:solidFill>
                  <a:schemeClr val="accent4"/>
                </a:solidFill>
                <a:latin typeface="+mj-lt"/>
                <a:ea typeface="+mj-ea"/>
                <a:cs typeface="+mj-cs"/>
              </a:rPr>
              <a:t>Tutela giurisdizionale</a:t>
            </a:r>
          </a:p>
          <a:p>
            <a:r>
              <a:rPr lang="it-IT" sz="5400" b="1" dirty="0">
                <a:solidFill>
                  <a:schemeClr val="accent4"/>
                </a:solidFill>
                <a:latin typeface="+mj-lt"/>
                <a:ea typeface="+mj-ea"/>
                <a:cs typeface="+mj-cs"/>
              </a:rPr>
              <a:t>e</a:t>
            </a:r>
          </a:p>
          <a:p>
            <a:r>
              <a:rPr lang="it-IT" sz="5400" b="1" dirty="0">
                <a:solidFill>
                  <a:schemeClr val="accent4"/>
                </a:solidFill>
                <a:latin typeface="+mj-lt"/>
                <a:ea typeface="+mj-ea"/>
                <a:cs typeface="+mj-cs"/>
              </a:rPr>
              <a:t>prova dei fatti giuridici</a:t>
            </a:r>
            <a:endParaRPr lang="it-IT" sz="3600" b="1" cap="all" dirty="0"/>
          </a:p>
          <a:p>
            <a:pPr lvl="0"/>
            <a:endParaRPr lang="it-IT" sz="3600" b="1" cap="all" dirty="0">
              <a:solidFill>
                <a:prstClr val="black"/>
              </a:solidFill>
            </a:endParaRPr>
          </a:p>
          <a:p>
            <a:pPr lvl="0"/>
            <a:endParaRPr lang="it-IT" sz="3600" b="1" cap="all" dirty="0">
              <a:solidFill>
                <a:prstClr val="black"/>
              </a:solidFill>
            </a:endParaRPr>
          </a:p>
          <a:p>
            <a:pPr lvl="0">
              <a:lnSpc>
                <a:spcPct val="100000"/>
              </a:lnSpc>
              <a:spcBef>
                <a:spcPts val="0"/>
              </a:spcBef>
            </a:pPr>
            <a:r>
              <a:rPr lang="it-IT" sz="1000" dirty="0">
                <a:solidFill>
                  <a:prstClr val="black"/>
                </a:solidFill>
              </a:rPr>
              <a:t>È vietata la divulgazione, la diffusione, la pubblicazione, sotto qualsiasi forma anche tramite social network, o la riproduzione, </a:t>
            </a:r>
          </a:p>
          <a:p>
            <a:pPr lvl="0">
              <a:lnSpc>
                <a:spcPct val="100000"/>
              </a:lnSpc>
              <a:spcBef>
                <a:spcPts val="0"/>
              </a:spcBef>
            </a:pPr>
            <a:r>
              <a:rPr lang="it-IT" sz="1000" dirty="0">
                <a:solidFill>
                  <a:prstClr val="black"/>
                </a:solidFill>
              </a:rPr>
              <a:t>al di fuori dell’utilizzo didattico per i Corsi dell’Università di Parma</a:t>
            </a:r>
          </a:p>
          <a:p>
            <a:pPr lvl="0">
              <a:lnSpc>
                <a:spcPct val="100000"/>
              </a:lnSpc>
              <a:spcBef>
                <a:spcPts val="0"/>
              </a:spcBef>
            </a:pPr>
            <a:r>
              <a:rPr lang="it-IT" sz="1000" i="1" dirty="0">
                <a:solidFill>
                  <a:prstClr val="black"/>
                </a:solidFill>
              </a:rPr>
              <a:t>Prof. Cristina Coppola</a:t>
            </a:r>
          </a:p>
          <a:p>
            <a:pPr lvl="0"/>
            <a:endParaRPr lang="it-IT" sz="3600" b="1" cap="all" dirty="0">
              <a:solidFill>
                <a:prstClr val="black"/>
              </a:solidFill>
            </a:endParaRPr>
          </a:p>
          <a:p>
            <a:pPr lvl="0"/>
            <a:endParaRPr lang="it-IT" sz="1000" dirty="0">
              <a:solidFill>
                <a:prstClr val="black"/>
              </a:solidFill>
            </a:endParaRPr>
          </a:p>
          <a:p>
            <a:pPr lvl="0">
              <a:lnSpc>
                <a:spcPct val="100000"/>
              </a:lnSpc>
              <a:spcBef>
                <a:spcPts val="0"/>
              </a:spcBef>
            </a:pPr>
            <a:endParaRPr lang="it-IT" sz="1000" dirty="0">
              <a:solidFill>
                <a:prstClr val="black"/>
              </a:solidFill>
            </a:endParaRPr>
          </a:p>
          <a:p>
            <a:pPr lvl="0">
              <a:lnSpc>
                <a:spcPct val="100000"/>
              </a:lnSpc>
              <a:spcBef>
                <a:spcPts val="0"/>
              </a:spcBef>
            </a:pPr>
            <a:endParaRPr lang="it-IT" sz="1000" dirty="0">
              <a:solidFill>
                <a:prstClr val="black"/>
              </a:solidFill>
            </a:endParaRPr>
          </a:p>
          <a:p>
            <a:pPr lvl="0"/>
            <a:endParaRPr lang="it-IT" sz="3600" b="1" dirty="0"/>
          </a:p>
        </p:txBody>
      </p:sp>
      <p:pic>
        <p:nvPicPr>
          <p:cNvPr id="4" name="Picture 2" descr="giurisprudenza_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57" y="209552"/>
            <a:ext cx="3148368" cy="109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8879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838199" y="69573"/>
            <a:ext cx="10515600" cy="346063"/>
          </a:xfrm>
        </p:spPr>
        <p:txBody>
          <a:bodyPr>
            <a:normAutofit fontScale="90000"/>
          </a:bodyPr>
          <a:lstStyle/>
          <a:p>
            <a:pPr algn="ctr"/>
            <a:br>
              <a:rPr lang="it-IT" sz="2000" b="1" dirty="0">
                <a:solidFill>
                  <a:schemeClr val="accent2"/>
                </a:solidFill>
                <a:latin typeface="+mn-lt"/>
                <a:ea typeface="+mn-ea"/>
                <a:cs typeface="+mn-cs"/>
              </a:rPr>
            </a:br>
            <a:br>
              <a:rPr lang="it-IT" sz="2000" b="1" dirty="0">
                <a:solidFill>
                  <a:schemeClr val="accent2"/>
                </a:solidFill>
                <a:latin typeface="+mn-lt"/>
                <a:ea typeface="+mn-ea"/>
                <a:cs typeface="+mn-cs"/>
              </a:rPr>
            </a:br>
            <a:r>
              <a:rPr lang="it-IT" sz="2000" b="1" dirty="0">
                <a:solidFill>
                  <a:schemeClr val="accent2"/>
                </a:solidFill>
                <a:latin typeface="+mn-lt"/>
                <a:ea typeface="+mn-ea"/>
                <a:cs typeface="+mn-cs"/>
              </a:rPr>
              <a:t>TUTELA GIURISDIZIONALE CIVILE</a:t>
            </a:r>
            <a:br>
              <a:rPr lang="it-IT" sz="2000" b="1" dirty="0">
                <a:solidFill>
                  <a:schemeClr val="accent2"/>
                </a:solidFill>
                <a:latin typeface="+mn-lt"/>
                <a:ea typeface="+mn-ea"/>
                <a:cs typeface="+mn-cs"/>
              </a:rPr>
            </a:br>
            <a:endParaRPr lang="it-IT" sz="2200" b="1" cap="all" dirty="0">
              <a:solidFill>
                <a:schemeClr val="accent2">
                  <a:lumMod val="60000"/>
                  <a:lumOff val="40000"/>
                </a:schemeClr>
              </a:solidFill>
              <a:latin typeface="+mn-lt"/>
            </a:endParaRPr>
          </a:p>
        </p:txBody>
      </p:sp>
      <p:sp>
        <p:nvSpPr>
          <p:cNvPr id="3" name="Segnaposto contenuto 2"/>
          <p:cNvSpPr>
            <a:spLocks noGrp="1"/>
          </p:cNvSpPr>
          <p:nvPr>
            <p:ph idx="1"/>
          </p:nvPr>
        </p:nvSpPr>
        <p:spPr>
          <a:xfrm>
            <a:off x="0" y="140504"/>
            <a:ext cx="12191998" cy="6717496"/>
          </a:xfrm>
        </p:spPr>
        <p:txBody>
          <a:bodyPr>
            <a:noAutofit/>
          </a:bodyPr>
          <a:lstStyle/>
          <a:p>
            <a:pPr marL="0" indent="0" algn="just">
              <a:lnSpc>
                <a:spcPct val="100000"/>
              </a:lnSpc>
              <a:spcBef>
                <a:spcPts val="0"/>
              </a:spcBef>
              <a:buNone/>
            </a:pPr>
            <a:r>
              <a:rPr lang="it-IT" sz="1600" b="1" dirty="0">
                <a:solidFill>
                  <a:srgbClr val="FF0000"/>
                </a:solidFill>
              </a:rPr>
              <a:t>*Definizioni:</a:t>
            </a:r>
          </a:p>
          <a:p>
            <a:pPr marL="0" indent="0" algn="just">
              <a:lnSpc>
                <a:spcPct val="100000"/>
              </a:lnSpc>
              <a:spcBef>
                <a:spcPts val="0"/>
              </a:spcBef>
              <a:buNone/>
            </a:pPr>
            <a:r>
              <a:rPr lang="it-IT" sz="1600" dirty="0">
                <a:solidFill>
                  <a:srgbClr val="FF0000"/>
                </a:solidFill>
              </a:rPr>
              <a:t>-</a:t>
            </a:r>
            <a:r>
              <a:rPr lang="it-IT" sz="1600" u="sng" dirty="0"/>
              <a:t>tutela (in senso ampio)</a:t>
            </a:r>
            <a:r>
              <a:rPr lang="it-IT" sz="1600" dirty="0"/>
              <a:t>: fenomeno in virtù del quale un interesse diventa rilevante per l’ordinamento giuridico, che ne promuove la realizzazione sul piano del così detto diritto sostanziale (es.: art. 1322, II comma, c.c.);</a:t>
            </a:r>
          </a:p>
          <a:p>
            <a:pPr marL="0" indent="0" algn="just">
              <a:lnSpc>
                <a:spcPct val="100000"/>
              </a:lnSpc>
              <a:spcBef>
                <a:spcPts val="0"/>
              </a:spcBef>
              <a:buNone/>
            </a:pPr>
            <a:r>
              <a:rPr lang="it-IT" sz="1600" dirty="0"/>
              <a:t>-</a:t>
            </a:r>
            <a:r>
              <a:rPr lang="it-IT" sz="1600" u="sng" dirty="0"/>
              <a:t>tutela (in senso stretto)</a:t>
            </a:r>
            <a:r>
              <a:rPr lang="it-IT" sz="1600" dirty="0"/>
              <a:t>: attitudine dell’ordinamento giuridico a offrire strumenti di reazione al titolare di un diritto, </a:t>
            </a:r>
            <a:r>
              <a:rPr lang="it-IT" sz="1600" dirty="0" err="1"/>
              <a:t>allorchè</a:t>
            </a:r>
            <a:r>
              <a:rPr lang="it-IT" sz="1600" dirty="0"/>
              <a:t> la realizzazione dell’interesse protetto venga frustrata da comportamenti non collaborativi o aggressivi degli altri consociati; stragiudiziale (es.: artt. 1186 o 1454 c.c.); giurisdizionale (art. 24, I comma, </a:t>
            </a:r>
            <a:r>
              <a:rPr lang="it-IT" sz="1600" dirty="0" err="1"/>
              <a:t>Cost</a:t>
            </a:r>
            <a:r>
              <a:rPr lang="it-IT" sz="1600" dirty="0"/>
              <a:t>.)</a:t>
            </a:r>
          </a:p>
          <a:p>
            <a:pPr marL="0" indent="0" algn="just">
              <a:lnSpc>
                <a:spcPct val="100000"/>
              </a:lnSpc>
              <a:spcBef>
                <a:spcPts val="0"/>
              </a:spcBef>
              <a:buNone/>
            </a:pPr>
            <a:r>
              <a:rPr lang="it-IT" sz="1600" dirty="0"/>
              <a:t>-</a:t>
            </a:r>
            <a:r>
              <a:rPr lang="it-IT" sz="1600" u="sng" dirty="0"/>
              <a:t>divieto di autotutela privata</a:t>
            </a:r>
            <a:r>
              <a:rPr lang="it-IT" sz="1600" dirty="0"/>
              <a:t>: nel diritto civile, per autotutela si intende una forma di reazione da parte del privato sia a un altrui fatto illecito, tanto di natura extracontrattuale quanto integrante un inadempimento, sia a un fatto che in ogni caso produca o possa produrre la lesione di un suo interesse giuridicamente rilevante; di regola, vige il divieto di autotutela privata (artt. 392-393 c.p.; artt. 1140 ss. c.c.), a parte limitate eccezioni (es.: artt. 1460 e 1461 c.c.).</a:t>
            </a:r>
          </a:p>
          <a:p>
            <a:pPr marL="0" indent="0" algn="just">
              <a:lnSpc>
                <a:spcPct val="100000"/>
              </a:lnSpc>
              <a:spcBef>
                <a:spcPts val="0"/>
              </a:spcBef>
              <a:buNone/>
            </a:pPr>
            <a:endParaRPr lang="it-IT" sz="1600" b="1" dirty="0">
              <a:solidFill>
                <a:srgbClr val="FF0000"/>
              </a:solidFill>
            </a:endParaRPr>
          </a:p>
          <a:p>
            <a:pPr marL="0" indent="0" algn="just">
              <a:lnSpc>
                <a:spcPct val="100000"/>
              </a:lnSpc>
              <a:spcBef>
                <a:spcPts val="0"/>
              </a:spcBef>
              <a:buNone/>
            </a:pPr>
            <a:r>
              <a:rPr lang="it-IT" sz="1600" b="1" dirty="0">
                <a:solidFill>
                  <a:srgbClr val="FF0000"/>
                </a:solidFill>
              </a:rPr>
              <a:t>*Principi fondamentali in materia di tutela giurisdizionale civile:</a:t>
            </a:r>
          </a:p>
          <a:p>
            <a:pPr marL="0" lvl="0" indent="0" algn="just">
              <a:lnSpc>
                <a:spcPct val="100000"/>
              </a:lnSpc>
              <a:spcBef>
                <a:spcPts val="0"/>
              </a:spcBef>
              <a:buNone/>
            </a:pPr>
            <a:r>
              <a:rPr lang="it-IT" sz="1600" dirty="0">
                <a:solidFill>
                  <a:prstClr val="black"/>
                </a:solidFill>
              </a:rPr>
              <a:t>-</a:t>
            </a:r>
            <a:r>
              <a:rPr lang="it-IT" sz="1600" u="sng" dirty="0">
                <a:solidFill>
                  <a:prstClr val="black"/>
                </a:solidFill>
              </a:rPr>
              <a:t>principio di effettività</a:t>
            </a:r>
            <a:r>
              <a:rPr lang="it-IT" sz="1600" dirty="0">
                <a:solidFill>
                  <a:prstClr val="black"/>
                </a:solidFill>
              </a:rPr>
              <a:t>: attraverso la tutela giurisdizionale, il giudice, quale organo dello Stato, è investito del compito di portare concretamente ad effetto le posizioni di vantaggio, i diritti, riconosciuti dall’ordinamento ai privati, ogni volta che ciò non accada in modo spontaneo;</a:t>
            </a:r>
          </a:p>
          <a:p>
            <a:pPr marL="0" lvl="0" indent="0" algn="just">
              <a:lnSpc>
                <a:spcPct val="100000"/>
              </a:lnSpc>
              <a:spcBef>
                <a:spcPts val="0"/>
              </a:spcBef>
              <a:buNone/>
            </a:pPr>
            <a:r>
              <a:rPr lang="it-IT" sz="1600" dirty="0">
                <a:solidFill>
                  <a:prstClr val="black"/>
                </a:solidFill>
              </a:rPr>
              <a:t>-</a:t>
            </a:r>
            <a:r>
              <a:rPr lang="it-IT" sz="1600" u="sng" dirty="0">
                <a:solidFill>
                  <a:prstClr val="black"/>
                </a:solidFill>
              </a:rPr>
              <a:t>diritto processuale civile</a:t>
            </a:r>
            <a:r>
              <a:rPr lang="it-IT" sz="1600" dirty="0">
                <a:solidFill>
                  <a:prstClr val="black"/>
                </a:solidFill>
              </a:rPr>
              <a:t>: settore del diritto che disciplina le regole applicabili al processo;</a:t>
            </a:r>
            <a:endParaRPr lang="it-IT" sz="1600" dirty="0"/>
          </a:p>
          <a:p>
            <a:pPr marL="0" indent="0" algn="just">
              <a:lnSpc>
                <a:spcPct val="100000"/>
              </a:lnSpc>
              <a:spcBef>
                <a:spcPts val="0"/>
              </a:spcBef>
              <a:buNone/>
            </a:pPr>
            <a:r>
              <a:rPr lang="it-IT" sz="1600" dirty="0"/>
              <a:t>-</a:t>
            </a:r>
            <a:r>
              <a:rPr lang="it-IT" sz="1600" u="sng" dirty="0"/>
              <a:t>attore:</a:t>
            </a:r>
            <a:r>
              <a:rPr lang="it-IT" sz="1600" dirty="0"/>
              <a:t> titolare di un preteso diritto, che lo esercita e ne chiede tutela al giudice attraverso l’azione, mediante la proposizione di una domanda, per la quale nutre un idoneo e concreto interesse ad agire (artt. 99 e 100 </a:t>
            </a:r>
            <a:r>
              <a:rPr lang="it-IT" sz="1600" dirty="0" err="1"/>
              <a:t>c.p.c.</a:t>
            </a:r>
            <a:r>
              <a:rPr lang="it-IT" sz="1600" dirty="0"/>
              <a:t>); l’azione è il riflesso processuale del diritto soggettivo sostanziale;</a:t>
            </a:r>
          </a:p>
          <a:p>
            <a:pPr marL="0" indent="0" algn="just">
              <a:lnSpc>
                <a:spcPct val="100000"/>
              </a:lnSpc>
              <a:spcBef>
                <a:spcPts val="0"/>
              </a:spcBef>
              <a:buNone/>
            </a:pPr>
            <a:r>
              <a:rPr lang="it-IT" sz="1600" dirty="0"/>
              <a:t>-</a:t>
            </a:r>
            <a:r>
              <a:rPr lang="it-IT" sz="1600" u="sng" dirty="0"/>
              <a:t>convenuto</a:t>
            </a:r>
            <a:r>
              <a:rPr lang="it-IT" sz="1600" dirty="0"/>
              <a:t>: soggetto contro il quale l’attore chiede l’emanazione del provvedimento richiesto al giudice; parte processuale che può difendersi dalla pretesa dell’attore, scardinandola attraverso l’eccezione;</a:t>
            </a:r>
          </a:p>
          <a:p>
            <a:pPr marL="0" indent="0" algn="just">
              <a:lnSpc>
                <a:spcPct val="100000"/>
              </a:lnSpc>
              <a:spcBef>
                <a:spcPts val="0"/>
              </a:spcBef>
              <a:buNone/>
            </a:pPr>
            <a:r>
              <a:rPr lang="it-IT" sz="1600" dirty="0"/>
              <a:t>-</a:t>
            </a:r>
            <a:r>
              <a:rPr lang="it-IT" sz="1600" u="sng" dirty="0"/>
              <a:t>principio del contraddittorio: </a:t>
            </a:r>
            <a:r>
              <a:rPr lang="it-IT" sz="1600" dirty="0"/>
              <a:t>partecipazione al processo del convenuto, quale parte contro cui è stata proposta la domanda (art. 24, II comma, </a:t>
            </a:r>
            <a:r>
              <a:rPr lang="it-IT" sz="1600" dirty="0" err="1"/>
              <a:t>Cost</a:t>
            </a:r>
            <a:r>
              <a:rPr lang="it-IT" sz="1600" dirty="0"/>
              <a:t>.; 101 </a:t>
            </a:r>
            <a:r>
              <a:rPr lang="it-IT" sz="1600" dirty="0" err="1"/>
              <a:t>c.p.c.</a:t>
            </a:r>
            <a:r>
              <a:rPr lang="it-IT" sz="1600" dirty="0"/>
              <a:t>)</a:t>
            </a:r>
          </a:p>
          <a:p>
            <a:pPr marL="0" lvl="0" indent="0" algn="just">
              <a:lnSpc>
                <a:spcPct val="100000"/>
              </a:lnSpc>
              <a:spcBef>
                <a:spcPts val="0"/>
              </a:spcBef>
              <a:buNone/>
            </a:pPr>
            <a:r>
              <a:rPr lang="it-IT" sz="1600" dirty="0"/>
              <a:t>-</a:t>
            </a:r>
            <a:r>
              <a:rPr lang="it-IT" sz="1600" u="sng" dirty="0"/>
              <a:t>principio dell’onere della prova</a:t>
            </a:r>
            <a:r>
              <a:rPr lang="it-IT" sz="1600" dirty="0"/>
              <a:t>: </a:t>
            </a:r>
            <a:r>
              <a:rPr lang="it-IT" sz="1600" dirty="0">
                <a:solidFill>
                  <a:prstClr val="black"/>
                </a:solidFill>
              </a:rPr>
              <a:t>secondo l’art. 2697, I e II co., c.c., ciascuna parte è gravata dall’onere della prova dei fatti costitutivi (attore) o impeditivi, estintivi, modificativi (convenuto), che pretende di far valere davanti al giudice, per ottenere il riconoscimento di una pretesa (attore) o difendersi dalla pretesa altrui (convenuto); in certi casi, l’onere della prova può essere invertito, nel senso che un fatto si presume fino a prova contraria (es.: art. 1988 c.c.);</a:t>
            </a:r>
          </a:p>
          <a:p>
            <a:pPr marL="0" lvl="0" indent="0" algn="just">
              <a:lnSpc>
                <a:spcPct val="100000"/>
              </a:lnSpc>
              <a:spcBef>
                <a:spcPts val="0"/>
              </a:spcBef>
              <a:buNone/>
            </a:pPr>
            <a:r>
              <a:rPr lang="it-IT" sz="1600" dirty="0">
                <a:solidFill>
                  <a:prstClr val="black"/>
                </a:solidFill>
              </a:rPr>
              <a:t>-</a:t>
            </a:r>
            <a:r>
              <a:rPr lang="it-IT" sz="1600" u="sng" dirty="0">
                <a:solidFill>
                  <a:prstClr val="black"/>
                </a:solidFill>
              </a:rPr>
              <a:t>principio dispositivo</a:t>
            </a:r>
            <a:r>
              <a:rPr lang="it-IT" sz="1600" dirty="0">
                <a:solidFill>
                  <a:prstClr val="black"/>
                </a:solidFill>
              </a:rPr>
              <a:t>: salvi i casi previsti dalla legge (es.: mezzi di prova </a:t>
            </a:r>
            <a:r>
              <a:rPr lang="it-IT" sz="1600" i="1" dirty="0">
                <a:solidFill>
                  <a:prstClr val="black"/>
                </a:solidFill>
              </a:rPr>
              <a:t>ex officio</a:t>
            </a:r>
            <a:r>
              <a:rPr lang="it-IT" sz="1600" dirty="0">
                <a:solidFill>
                  <a:prstClr val="black"/>
                </a:solidFill>
              </a:rPr>
              <a:t>), sono le parti processuali a dovere proporre al giudice gli elementi di prova su cui basare il proprio convincimento (art. 115 </a:t>
            </a:r>
            <a:r>
              <a:rPr lang="it-IT" sz="1600" dirty="0" err="1">
                <a:solidFill>
                  <a:prstClr val="black"/>
                </a:solidFill>
              </a:rPr>
              <a:t>c.p.c.</a:t>
            </a:r>
            <a:r>
              <a:rPr lang="it-IT" sz="1600" dirty="0">
                <a:solidFill>
                  <a:prstClr val="black"/>
                </a:solidFill>
              </a:rPr>
              <a:t>);</a:t>
            </a:r>
          </a:p>
          <a:p>
            <a:pPr marL="0" indent="0" algn="just">
              <a:lnSpc>
                <a:spcPct val="100000"/>
              </a:lnSpc>
              <a:spcBef>
                <a:spcPts val="0"/>
              </a:spcBef>
              <a:buNone/>
            </a:pPr>
            <a:endParaRPr lang="it-IT" sz="1600" b="1" dirty="0">
              <a:solidFill>
                <a:srgbClr val="FF0000"/>
              </a:solidFill>
            </a:endParaRPr>
          </a:p>
          <a:p>
            <a:pPr marL="0" indent="0" algn="just">
              <a:lnSpc>
                <a:spcPct val="100000"/>
              </a:lnSpc>
              <a:spcBef>
                <a:spcPts val="0"/>
              </a:spcBef>
              <a:buNone/>
            </a:pPr>
            <a:endParaRPr lang="it-IT" sz="1600" dirty="0">
              <a:solidFill>
                <a:prstClr val="black"/>
              </a:solidFill>
            </a:endParaRPr>
          </a:p>
        </p:txBody>
      </p:sp>
    </p:spTree>
    <p:extLst>
      <p:ext uri="{BB962C8B-B14F-4D97-AF65-F5344CB8AC3E}">
        <p14:creationId xmlns:p14="http://schemas.microsoft.com/office/powerpoint/2010/main" val="75668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725557" y="83126"/>
            <a:ext cx="10628242" cy="205109"/>
          </a:xfrm>
        </p:spPr>
        <p:txBody>
          <a:bodyPr>
            <a:normAutofit fontScale="90000"/>
          </a:bodyPr>
          <a:lstStyle/>
          <a:p>
            <a:pPr algn="ctr"/>
            <a:br>
              <a:rPr lang="it-IT" sz="2000" b="1" dirty="0">
                <a:solidFill>
                  <a:schemeClr val="accent2"/>
                </a:solidFill>
                <a:latin typeface="+mn-lt"/>
                <a:ea typeface="+mn-ea"/>
                <a:cs typeface="+mn-cs"/>
              </a:rPr>
            </a:br>
            <a:endParaRPr lang="it-IT" sz="2200" b="1" cap="all" dirty="0">
              <a:solidFill>
                <a:schemeClr val="accent2">
                  <a:lumMod val="75000"/>
                </a:schemeClr>
              </a:solidFill>
              <a:latin typeface="+mn-lt"/>
            </a:endParaRPr>
          </a:p>
        </p:txBody>
      </p:sp>
      <p:sp>
        <p:nvSpPr>
          <p:cNvPr id="3" name="Segnaposto contenuto 2"/>
          <p:cNvSpPr>
            <a:spLocks noGrp="1"/>
          </p:cNvSpPr>
          <p:nvPr>
            <p:ph idx="1"/>
          </p:nvPr>
        </p:nvSpPr>
        <p:spPr>
          <a:xfrm>
            <a:off x="0" y="0"/>
            <a:ext cx="12191997" cy="6858001"/>
          </a:xfrm>
        </p:spPr>
        <p:txBody>
          <a:bodyPr>
            <a:noAutofit/>
          </a:bodyPr>
          <a:lstStyle/>
          <a:p>
            <a:pPr marL="0" lvl="0" indent="0" algn="just">
              <a:lnSpc>
                <a:spcPct val="100000"/>
              </a:lnSpc>
              <a:spcBef>
                <a:spcPts val="0"/>
              </a:spcBef>
              <a:buNone/>
            </a:pPr>
            <a:r>
              <a:rPr lang="it-IT" sz="1600" b="1" dirty="0">
                <a:solidFill>
                  <a:srgbClr val="FF0000"/>
                </a:solidFill>
              </a:rPr>
              <a:t>*(</a:t>
            </a:r>
            <a:r>
              <a:rPr lang="it-IT" sz="1600" b="1" i="1" dirty="0">
                <a:solidFill>
                  <a:srgbClr val="FF0000"/>
                </a:solidFill>
              </a:rPr>
              <a:t>segue</a:t>
            </a:r>
            <a:r>
              <a:rPr lang="it-IT" sz="1600" b="1" dirty="0">
                <a:solidFill>
                  <a:srgbClr val="FF0000"/>
                </a:solidFill>
              </a:rPr>
              <a:t>) Principi fondamentali in materia di tutela giurisdizionale civile:</a:t>
            </a:r>
          </a:p>
          <a:p>
            <a:pPr marL="0" indent="0" algn="just">
              <a:lnSpc>
                <a:spcPct val="100000"/>
              </a:lnSpc>
              <a:spcBef>
                <a:spcPts val="0"/>
              </a:spcBef>
              <a:buNone/>
            </a:pPr>
            <a:r>
              <a:rPr lang="it-IT" sz="1600" u="sng" dirty="0"/>
              <a:t>-principio di corrispondenza tra il chiesto e il pronunciato: </a:t>
            </a:r>
            <a:r>
              <a:rPr lang="it-IT" sz="1600" dirty="0"/>
              <a:t>il giudice deve pronunciare su tutta la domanda e non oltre i limiti di essa; e non può pronunciare d'ufficio su eccezioni, che possono essere proposte soltanto dalle parti (art. 112 </a:t>
            </a:r>
            <a:r>
              <a:rPr lang="it-IT" sz="1600" dirty="0" err="1"/>
              <a:t>c.p.c.</a:t>
            </a:r>
            <a:r>
              <a:rPr lang="it-IT" sz="1600" dirty="0"/>
              <a:t>);</a:t>
            </a:r>
          </a:p>
          <a:p>
            <a:pPr marL="0" indent="0" algn="just">
              <a:lnSpc>
                <a:spcPct val="100000"/>
              </a:lnSpc>
              <a:spcBef>
                <a:spcPts val="0"/>
              </a:spcBef>
              <a:buNone/>
            </a:pPr>
            <a:r>
              <a:rPr lang="it-IT" sz="1600" u="sng" dirty="0"/>
              <a:t>-principio di vicinanza della prova</a:t>
            </a:r>
            <a:r>
              <a:rPr lang="it-IT" sz="1600" dirty="0"/>
              <a:t>: criterio di distribuzione degli oneri probatori nell’ipotesi di responsabilità da inadempimento contrattuale, più favorevole all’attore, ossia alla parte non inadempiente del contratto, che agisca per l’adempimento della prestazione, lo scioglimento del contratto o il risarcimento del danno: l’attore si può limitare a provare la fonte del suo diritto, ossia il contratto, e ad allegare l’inadempimento del convenuto, sul quale invece incombe l’onere di provare l’adempimento o l’impossibilità della prestazione a lui non imputabile (C., S.U., 13533/2001; es.: responsabilità della struttura sanitaria verso il paziente);</a:t>
            </a:r>
          </a:p>
          <a:p>
            <a:pPr marL="0" indent="0" algn="just">
              <a:lnSpc>
                <a:spcPct val="100000"/>
              </a:lnSpc>
              <a:spcBef>
                <a:spcPts val="0"/>
              </a:spcBef>
              <a:buNone/>
            </a:pPr>
            <a:r>
              <a:rPr lang="it-IT" sz="1600" dirty="0"/>
              <a:t>-</a:t>
            </a:r>
            <a:r>
              <a:rPr lang="it-IT" sz="1600" u="sng" dirty="0"/>
              <a:t>cosa giudicata in senso formale e sostanziale</a:t>
            </a:r>
            <a:r>
              <a:rPr lang="it-IT" sz="1600" dirty="0"/>
              <a:t>: due aspetti dello stesso fenomeno, costituito dalla incontrovertibilità e definitività della sentenza (artt. 324 </a:t>
            </a:r>
            <a:r>
              <a:rPr lang="it-IT" sz="1600" dirty="0" err="1"/>
              <a:t>c.p.c.</a:t>
            </a:r>
            <a:r>
              <a:rPr lang="it-IT" sz="1600" dirty="0"/>
              <a:t> e 2909 c.c.); una volta che una sentenza diventa definitiva, è cristallizzata nel suo contenuto e obbliga le parti, loro eredi e aventi causa a rispettare ciò che è stato stabilito dal giudice.</a:t>
            </a:r>
          </a:p>
          <a:p>
            <a:pPr marL="0" indent="0" algn="just">
              <a:lnSpc>
                <a:spcPct val="100000"/>
              </a:lnSpc>
              <a:spcBef>
                <a:spcPts val="0"/>
              </a:spcBef>
              <a:buNone/>
            </a:pPr>
            <a:endParaRPr lang="it-IT" sz="1600" b="1" dirty="0">
              <a:solidFill>
                <a:srgbClr val="FF0000"/>
              </a:solidFill>
            </a:endParaRPr>
          </a:p>
          <a:p>
            <a:pPr marL="0" indent="0" algn="just">
              <a:lnSpc>
                <a:spcPct val="100000"/>
              </a:lnSpc>
              <a:spcBef>
                <a:spcPts val="0"/>
              </a:spcBef>
              <a:buNone/>
            </a:pPr>
            <a:r>
              <a:rPr lang="it-IT" sz="1600" b="1" dirty="0">
                <a:solidFill>
                  <a:srgbClr val="FF0000"/>
                </a:solidFill>
              </a:rPr>
              <a:t>*Forme di tutela giurisdizionale:</a:t>
            </a:r>
          </a:p>
          <a:p>
            <a:pPr marL="0" indent="0" algn="just">
              <a:lnSpc>
                <a:spcPct val="100000"/>
              </a:lnSpc>
              <a:spcBef>
                <a:spcPts val="0"/>
              </a:spcBef>
              <a:buNone/>
            </a:pPr>
            <a:r>
              <a:rPr lang="it-IT" sz="1600" u="sng" dirty="0"/>
              <a:t>-tutela restitutoria: </a:t>
            </a:r>
            <a:r>
              <a:rPr lang="it-IT" sz="1600" dirty="0"/>
              <a:t>tesa a rispristinare lo </a:t>
            </a:r>
            <a:r>
              <a:rPr lang="it-IT" sz="1600" i="1" dirty="0"/>
              <a:t>status quo ante </a:t>
            </a:r>
            <a:r>
              <a:rPr lang="it-IT" sz="1600" dirty="0"/>
              <a:t>anteriore alla lesione (es.: artt. 948 e 1168 c.c.);</a:t>
            </a:r>
          </a:p>
          <a:p>
            <a:pPr marL="0" indent="0" algn="just">
              <a:lnSpc>
                <a:spcPct val="100000"/>
              </a:lnSpc>
              <a:spcBef>
                <a:spcPts val="0"/>
              </a:spcBef>
              <a:buNone/>
            </a:pPr>
            <a:r>
              <a:rPr lang="it-IT" sz="1600" u="sng" dirty="0"/>
              <a:t>-tutela satisfattoria: </a:t>
            </a:r>
            <a:r>
              <a:rPr lang="it-IT" sz="1600" dirty="0"/>
              <a:t>tesa a far conseguire al titolare del diritto l’utilità che avrebbe dovuto ricevere dalla controparte (es.: art. 2932 c.c.);</a:t>
            </a:r>
          </a:p>
          <a:p>
            <a:pPr marL="0" indent="0" algn="just">
              <a:lnSpc>
                <a:spcPct val="100000"/>
              </a:lnSpc>
              <a:spcBef>
                <a:spcPts val="0"/>
              </a:spcBef>
              <a:buNone/>
            </a:pPr>
            <a:r>
              <a:rPr lang="it-IT" sz="1600" u="sng" dirty="0"/>
              <a:t>-tutela risarcitoria: </a:t>
            </a:r>
            <a:r>
              <a:rPr lang="it-IT" sz="1600" dirty="0"/>
              <a:t>tesa a ristorare la parte lesa dal pregiudizio derivante dalla condotta di un terzo (responsabilità per inadempimento contrattuale e da fatto illecito);</a:t>
            </a:r>
          </a:p>
          <a:p>
            <a:pPr marL="0" indent="0" algn="just">
              <a:lnSpc>
                <a:spcPct val="100000"/>
              </a:lnSpc>
              <a:spcBef>
                <a:spcPts val="0"/>
              </a:spcBef>
              <a:buNone/>
            </a:pPr>
            <a:r>
              <a:rPr lang="it-IT" sz="1600" u="sng" dirty="0"/>
              <a:t>-tutela inibitoria: </a:t>
            </a:r>
            <a:r>
              <a:rPr lang="it-IT" sz="1600" dirty="0"/>
              <a:t>tesa ad impedire, preventivamente gli effetti dannosi o successivamente il loro ripetersi, di un comportamento illecito, ossia contrario all'ordinamento (es.: artt. 7 e 10 c.c.)</a:t>
            </a:r>
          </a:p>
          <a:p>
            <a:pPr marL="0" indent="0" algn="just">
              <a:lnSpc>
                <a:spcPct val="100000"/>
              </a:lnSpc>
              <a:spcBef>
                <a:spcPts val="0"/>
              </a:spcBef>
              <a:buNone/>
            </a:pPr>
            <a:endParaRPr lang="it-IT" sz="1600" dirty="0"/>
          </a:p>
          <a:p>
            <a:pPr marL="0" indent="0" algn="just">
              <a:lnSpc>
                <a:spcPct val="100000"/>
              </a:lnSpc>
              <a:spcBef>
                <a:spcPts val="0"/>
              </a:spcBef>
              <a:buNone/>
            </a:pPr>
            <a:r>
              <a:rPr lang="it-IT" sz="1600" b="1" dirty="0">
                <a:solidFill>
                  <a:srgbClr val="FF0000"/>
                </a:solidFill>
              </a:rPr>
              <a:t>*Tipologia di sentenze:</a:t>
            </a:r>
          </a:p>
          <a:p>
            <a:pPr marL="0" indent="0" algn="just">
              <a:lnSpc>
                <a:spcPct val="100000"/>
              </a:lnSpc>
              <a:spcBef>
                <a:spcPts val="0"/>
              </a:spcBef>
              <a:buNone/>
            </a:pPr>
            <a:r>
              <a:rPr lang="it-IT" sz="1600" dirty="0"/>
              <a:t>-</a:t>
            </a:r>
            <a:r>
              <a:rPr lang="it-IT" sz="1600" u="sng" dirty="0"/>
              <a:t>di mero accertamento (dichiarativa)</a:t>
            </a:r>
            <a:r>
              <a:rPr lang="it-IT" sz="1600" dirty="0"/>
              <a:t>: l’attore nella domanda chiede il mero accertamento dell'esistenza/inesistenza o del modo di essere del rapporto giuridico controverso (es.: art. 1079 c.c.);</a:t>
            </a:r>
          </a:p>
          <a:p>
            <a:pPr marL="0" indent="0" algn="just">
              <a:lnSpc>
                <a:spcPct val="100000"/>
              </a:lnSpc>
              <a:spcBef>
                <a:spcPts val="0"/>
              </a:spcBef>
              <a:buNone/>
            </a:pPr>
            <a:r>
              <a:rPr lang="it-IT" sz="1600" dirty="0"/>
              <a:t>-</a:t>
            </a:r>
            <a:r>
              <a:rPr lang="it-IT" sz="1600" u="sng" dirty="0"/>
              <a:t>di condanna</a:t>
            </a:r>
            <a:r>
              <a:rPr lang="it-IT" sz="1600" dirty="0"/>
              <a:t>: l’attore nella domanda chiede, oltre all’accertamento, l'emanazione di un comando che il giudice rivolgerà alla parte soccombente di tenere una determinata condotta (es.: condanna al risarcimento del danno contrattuale o da fatto illecito, art. 948 c.c.); può fondare il processo esecutivo (esecuzione forzata sui beni del debitore: artt. 2740 e 2910 ss. c.c.);</a:t>
            </a:r>
          </a:p>
          <a:p>
            <a:pPr marL="0" indent="0" algn="just">
              <a:lnSpc>
                <a:spcPct val="100000"/>
              </a:lnSpc>
              <a:spcBef>
                <a:spcPts val="0"/>
              </a:spcBef>
              <a:buNone/>
            </a:pPr>
            <a:r>
              <a:rPr lang="it-IT" sz="1600" dirty="0"/>
              <a:t>-</a:t>
            </a:r>
            <a:r>
              <a:rPr lang="it-IT" sz="1600" u="sng" dirty="0"/>
              <a:t>costitutiva</a:t>
            </a:r>
            <a:r>
              <a:rPr lang="it-IT" sz="1600" dirty="0"/>
              <a:t>: l’attore nella domanda chiede la costituzione, modificazione o estinzione di rapporti giuridici preesistenti (artt. 2908 e 1453, 2932 c.c., etc.)</a:t>
            </a:r>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r>
              <a:rPr lang="it-IT" sz="1600" dirty="0"/>
              <a:t>,, </a:t>
            </a:r>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dirty="0"/>
          </a:p>
          <a:p>
            <a:pPr marL="0" indent="0" algn="just">
              <a:lnSpc>
                <a:spcPct val="100000"/>
              </a:lnSpc>
              <a:spcBef>
                <a:spcPts val="0"/>
              </a:spcBef>
              <a:buNone/>
            </a:pPr>
            <a:endParaRPr lang="it-IT" sz="1600" b="1" dirty="0">
              <a:solidFill>
                <a:srgbClr val="FF0000"/>
              </a:solidFill>
            </a:endParaRPr>
          </a:p>
          <a:p>
            <a:pPr marL="0" indent="0" algn="just">
              <a:lnSpc>
                <a:spcPct val="100000"/>
              </a:lnSpc>
              <a:spcBef>
                <a:spcPts val="0"/>
              </a:spcBef>
              <a:buNone/>
            </a:pPr>
            <a:endParaRPr lang="it-IT" sz="1600" dirty="0">
              <a:solidFill>
                <a:prstClr val="black"/>
              </a:solidFill>
            </a:endParaRPr>
          </a:p>
        </p:txBody>
      </p:sp>
    </p:spTree>
    <p:extLst>
      <p:ext uri="{BB962C8B-B14F-4D97-AF65-F5344CB8AC3E}">
        <p14:creationId xmlns:p14="http://schemas.microsoft.com/office/powerpoint/2010/main" val="303848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854765" y="83126"/>
            <a:ext cx="10499034" cy="175291"/>
          </a:xfrm>
        </p:spPr>
        <p:txBody>
          <a:bodyPr>
            <a:normAutofit fontScale="90000"/>
          </a:bodyPr>
          <a:lstStyle/>
          <a:p>
            <a:pPr algn="ctr"/>
            <a:br>
              <a:rPr lang="it-IT" sz="2000" b="1" dirty="0">
                <a:solidFill>
                  <a:schemeClr val="accent2"/>
                </a:solidFill>
                <a:latin typeface="+mn-lt"/>
                <a:ea typeface="+mn-ea"/>
                <a:cs typeface="+mn-cs"/>
              </a:rPr>
            </a:br>
            <a:r>
              <a:rPr lang="it-IT" sz="2000" b="1" dirty="0">
                <a:solidFill>
                  <a:schemeClr val="accent2"/>
                </a:solidFill>
                <a:latin typeface="+mn-lt"/>
                <a:ea typeface="+mn-ea"/>
                <a:cs typeface="+mn-cs"/>
              </a:rPr>
              <a:t>PROVA DEI FATTI GIURIDICI</a:t>
            </a:r>
            <a:endParaRPr lang="it-IT" sz="2200" b="1" cap="all" dirty="0">
              <a:solidFill>
                <a:schemeClr val="accent2">
                  <a:lumMod val="75000"/>
                </a:schemeClr>
              </a:solidFill>
              <a:latin typeface="+mn-lt"/>
            </a:endParaRPr>
          </a:p>
        </p:txBody>
      </p:sp>
      <p:sp>
        <p:nvSpPr>
          <p:cNvPr id="3" name="Segnaposto contenuto 2"/>
          <p:cNvSpPr>
            <a:spLocks noGrp="1"/>
          </p:cNvSpPr>
          <p:nvPr>
            <p:ph idx="1"/>
          </p:nvPr>
        </p:nvSpPr>
        <p:spPr>
          <a:xfrm>
            <a:off x="0" y="446809"/>
            <a:ext cx="12191998" cy="6411192"/>
          </a:xfrm>
        </p:spPr>
        <p:txBody>
          <a:bodyPr>
            <a:noAutofit/>
          </a:bodyPr>
          <a:lstStyle/>
          <a:p>
            <a:pPr marL="0" indent="0" algn="just">
              <a:lnSpc>
                <a:spcPct val="100000"/>
              </a:lnSpc>
              <a:spcBef>
                <a:spcPts val="0"/>
              </a:spcBef>
              <a:buNone/>
            </a:pPr>
            <a:endParaRPr lang="it-IT" sz="1600" b="1" dirty="0">
              <a:solidFill>
                <a:srgbClr val="FF0000"/>
              </a:solidFill>
            </a:endParaRPr>
          </a:p>
          <a:p>
            <a:pPr marL="0" indent="0" algn="just">
              <a:lnSpc>
                <a:spcPct val="100000"/>
              </a:lnSpc>
              <a:spcBef>
                <a:spcPts val="0"/>
              </a:spcBef>
              <a:buNone/>
            </a:pPr>
            <a:endParaRPr lang="it-IT" sz="1600" b="1" dirty="0">
              <a:solidFill>
                <a:srgbClr val="FF0000"/>
              </a:solidFill>
            </a:endParaRPr>
          </a:p>
          <a:p>
            <a:pPr marL="0" indent="0" algn="just">
              <a:lnSpc>
                <a:spcPct val="100000"/>
              </a:lnSpc>
              <a:spcBef>
                <a:spcPts val="0"/>
              </a:spcBef>
              <a:buNone/>
            </a:pPr>
            <a:r>
              <a:rPr lang="it-IT" sz="1600" b="1" dirty="0">
                <a:solidFill>
                  <a:srgbClr val="FF0000"/>
                </a:solidFill>
              </a:rPr>
              <a:t>*Definizione</a:t>
            </a:r>
            <a:r>
              <a:rPr lang="it-IT" sz="1600" dirty="0">
                <a:solidFill>
                  <a:prstClr val="black"/>
                </a:solidFill>
              </a:rPr>
              <a:t>: dimostrazione, nel processo civile, </a:t>
            </a:r>
            <a:r>
              <a:rPr lang="it-IT" sz="1600" b="1" dirty="0">
                <a:solidFill>
                  <a:prstClr val="black"/>
                </a:solidFill>
              </a:rPr>
              <a:t>dell’esistenza dei fatti</a:t>
            </a:r>
            <a:r>
              <a:rPr lang="it-IT" sz="1600" dirty="0">
                <a:solidFill>
                  <a:prstClr val="black"/>
                </a:solidFill>
              </a:rPr>
              <a:t>, costitutivi (attore) o impeditivi, estintivi, modificativi (convenuto) affermati nella domanda o nell’eccezione, dalle parti; al giudice è riservata, invece, la qualificazione giuridica dei fatti provati dalle parti e l’applicazione delle norme giuridiche (fattispecie astratte) alla causa (fattispecie concreta), con conseguente accoglimento o rigetto della domanda </a:t>
            </a:r>
          </a:p>
          <a:p>
            <a:pPr marL="0" indent="0" algn="just">
              <a:lnSpc>
                <a:spcPct val="100000"/>
              </a:lnSpc>
              <a:spcBef>
                <a:spcPts val="0"/>
              </a:spcBef>
              <a:buNone/>
            </a:pPr>
            <a:endParaRPr lang="it-IT" sz="1600" dirty="0">
              <a:solidFill>
                <a:prstClr val="black"/>
              </a:solidFill>
            </a:endParaRPr>
          </a:p>
          <a:p>
            <a:pPr marL="0" lvl="0" indent="0" algn="just">
              <a:lnSpc>
                <a:spcPct val="100000"/>
              </a:lnSpc>
              <a:spcBef>
                <a:spcPts val="0"/>
              </a:spcBef>
              <a:buNone/>
            </a:pPr>
            <a:r>
              <a:rPr lang="it-IT" sz="1600" b="1" dirty="0">
                <a:solidFill>
                  <a:srgbClr val="FF0000"/>
                </a:solidFill>
              </a:rPr>
              <a:t>*Mezzi di prova:</a:t>
            </a:r>
            <a:endParaRPr lang="it-IT" sz="1600" i="1" dirty="0">
              <a:solidFill>
                <a:prstClr val="black"/>
              </a:solidFill>
            </a:endParaRPr>
          </a:p>
          <a:p>
            <a:pPr marL="0" lvl="0" indent="0" algn="just">
              <a:lnSpc>
                <a:spcPct val="100000"/>
              </a:lnSpc>
              <a:spcBef>
                <a:spcPts val="0"/>
              </a:spcBef>
              <a:buNone/>
            </a:pPr>
            <a:r>
              <a:rPr lang="it-IT" sz="1600" i="1" dirty="0">
                <a:solidFill>
                  <a:prstClr val="black"/>
                </a:solidFill>
              </a:rPr>
              <a:t>-</a:t>
            </a:r>
            <a:r>
              <a:rPr lang="it-IT" sz="1600" u="sng" dirty="0">
                <a:solidFill>
                  <a:prstClr val="black"/>
                </a:solidFill>
              </a:rPr>
              <a:t>documentale (o precostituita)</a:t>
            </a:r>
            <a:r>
              <a:rPr lang="it-IT" sz="1600" i="1" dirty="0">
                <a:solidFill>
                  <a:prstClr val="black"/>
                </a:solidFill>
              </a:rPr>
              <a:t>: </a:t>
            </a:r>
          </a:p>
          <a:p>
            <a:pPr marL="0" lvl="0" indent="0" algn="just">
              <a:lnSpc>
                <a:spcPct val="100000"/>
              </a:lnSpc>
              <a:spcBef>
                <a:spcPts val="0"/>
              </a:spcBef>
              <a:buNone/>
            </a:pPr>
            <a:r>
              <a:rPr lang="it-IT" sz="1600" b="1" i="1" dirty="0">
                <a:solidFill>
                  <a:prstClr val="black"/>
                </a:solidFill>
              </a:rPr>
              <a:t>atto pubblico</a:t>
            </a:r>
            <a:r>
              <a:rPr lang="it-IT" sz="1600" i="1" dirty="0">
                <a:solidFill>
                  <a:prstClr val="black"/>
                </a:solidFill>
              </a:rPr>
              <a:t>: </a:t>
            </a:r>
            <a:r>
              <a:rPr lang="it-IT" sz="1600" dirty="0">
                <a:solidFill>
                  <a:prstClr val="black"/>
                </a:solidFill>
              </a:rPr>
              <a:t>documento redatto da un notaio o altro pubblico ufficiale  (es.: cancelliere del Tribunale) (art. 2699 c.c.); fa piena prova, fino a querela di falso (art. 221 </a:t>
            </a:r>
            <a:r>
              <a:rPr lang="it-IT" sz="1600" dirty="0" err="1">
                <a:solidFill>
                  <a:prstClr val="black"/>
                </a:solidFill>
              </a:rPr>
              <a:t>c.p.c.</a:t>
            </a:r>
            <a:r>
              <a:rPr lang="it-IT" sz="1600" dirty="0">
                <a:solidFill>
                  <a:prstClr val="black"/>
                </a:solidFill>
              </a:rPr>
              <a:t> e 476 c.p.), della verità storica della provenienza del documento dal pubblico ufficiale che lo ha formato, nonché delle dichiarazioni delle parti e degli altri fatti che il pubblico ufficiale attesta avvenuti in sua presenza o da lui compiuti (art. 2700 c.c.);</a:t>
            </a:r>
          </a:p>
          <a:p>
            <a:pPr marL="0" lvl="0" indent="0" algn="just">
              <a:lnSpc>
                <a:spcPct val="100000"/>
              </a:lnSpc>
              <a:spcBef>
                <a:spcPts val="0"/>
              </a:spcBef>
              <a:buNone/>
            </a:pPr>
            <a:r>
              <a:rPr lang="it-IT" sz="1600" b="1" i="1" dirty="0">
                <a:solidFill>
                  <a:prstClr val="black"/>
                </a:solidFill>
              </a:rPr>
              <a:t>scrittura privata</a:t>
            </a:r>
            <a:r>
              <a:rPr lang="it-IT" sz="1600" i="1" dirty="0">
                <a:solidFill>
                  <a:prstClr val="black"/>
                </a:solidFill>
              </a:rPr>
              <a:t>: </a:t>
            </a:r>
            <a:r>
              <a:rPr lang="it-IT" sz="1600" dirty="0">
                <a:solidFill>
                  <a:prstClr val="black"/>
                </a:solidFill>
              </a:rPr>
              <a:t>documento redatto dai privati, che fa piena, fino a querela di falso, della provenienza delle dichiarazioni da chi l'ha sottoscritta, se colui contro il quale la scrittura è prodotta ne riconosce la sottoscrizione, ovvero se questa è legalmente considerata come riconosciuta (art. 2702 c.c.); pone il problema della data certa, se non è autenticata (art. 2704 c.c.)</a:t>
            </a:r>
          </a:p>
          <a:p>
            <a:pPr marL="0" lvl="0" indent="0" algn="just">
              <a:lnSpc>
                <a:spcPct val="100000"/>
              </a:lnSpc>
              <a:spcBef>
                <a:spcPts val="0"/>
              </a:spcBef>
              <a:buNone/>
            </a:pPr>
            <a:r>
              <a:rPr lang="it-IT" sz="1600" b="1" i="1" dirty="0">
                <a:solidFill>
                  <a:prstClr val="black"/>
                </a:solidFill>
              </a:rPr>
              <a:t>scrittura privata autenticata</a:t>
            </a:r>
            <a:r>
              <a:rPr lang="it-IT" sz="1600" i="1" dirty="0">
                <a:solidFill>
                  <a:prstClr val="black"/>
                </a:solidFill>
              </a:rPr>
              <a:t>: </a:t>
            </a:r>
            <a:r>
              <a:rPr lang="it-IT" sz="1600" dirty="0">
                <a:solidFill>
                  <a:prstClr val="black"/>
                </a:solidFill>
              </a:rPr>
              <a:t>si ha per riconosciuta la sottoscrizione autenticata dal notaio o da altro pubblico ufficiale a ciò autorizzato; l'autenticazione consiste nell'attestazione da parte del pubblico ufficiale che la sottoscrizione è stata apposta in sua presenza. Il pubblico ufficiale deve previamente accertare l'identità della persona che sottoscrive (art. 2703 c.c.)</a:t>
            </a:r>
          </a:p>
          <a:p>
            <a:pPr marL="0" lvl="0" indent="0" algn="just">
              <a:lnSpc>
                <a:spcPct val="100000"/>
              </a:lnSpc>
              <a:spcBef>
                <a:spcPts val="0"/>
              </a:spcBef>
              <a:buNone/>
            </a:pPr>
            <a:endParaRPr lang="it-IT" sz="1600" i="1" dirty="0">
              <a:solidFill>
                <a:prstClr val="black"/>
              </a:solidFill>
            </a:endParaRPr>
          </a:p>
          <a:p>
            <a:pPr marL="0" lvl="0" indent="0" algn="just">
              <a:lnSpc>
                <a:spcPct val="100000"/>
              </a:lnSpc>
              <a:spcBef>
                <a:spcPts val="0"/>
              </a:spcBef>
              <a:buNone/>
            </a:pPr>
            <a:r>
              <a:rPr lang="it-IT" sz="1600" i="1" dirty="0">
                <a:solidFill>
                  <a:prstClr val="black"/>
                </a:solidFill>
              </a:rPr>
              <a:t>-</a:t>
            </a:r>
            <a:r>
              <a:rPr lang="it-IT" sz="1600" u="sng" dirty="0">
                <a:solidFill>
                  <a:prstClr val="black"/>
                </a:solidFill>
              </a:rPr>
              <a:t>orale (si forma nel processo):</a:t>
            </a:r>
          </a:p>
          <a:p>
            <a:pPr marL="0" lvl="0" indent="0" algn="just">
              <a:lnSpc>
                <a:spcPct val="100000"/>
              </a:lnSpc>
              <a:spcBef>
                <a:spcPts val="0"/>
              </a:spcBef>
              <a:buNone/>
            </a:pPr>
            <a:r>
              <a:rPr lang="it-IT" sz="1600" b="1" i="1" dirty="0">
                <a:solidFill>
                  <a:prstClr val="black"/>
                </a:solidFill>
              </a:rPr>
              <a:t>testimonianza</a:t>
            </a:r>
            <a:r>
              <a:rPr lang="it-IT" sz="1600" i="1" dirty="0">
                <a:solidFill>
                  <a:prstClr val="black"/>
                </a:solidFill>
              </a:rPr>
              <a:t>: </a:t>
            </a:r>
            <a:r>
              <a:rPr lang="it-IT" sz="1600" dirty="0">
                <a:solidFill>
                  <a:prstClr val="black"/>
                </a:solidFill>
              </a:rPr>
              <a:t>dichiarazione resa da un terzo, che non abbia un interesse nella causa, durante un interrogatorio su fatti dei quali abbia conoscenza diretta; è affidata alla discrezionalità del giudice, salvi i casi previsti dalla legge (artt. 2721 e 2724 c.c.); </a:t>
            </a:r>
          </a:p>
          <a:p>
            <a:pPr marL="0" lvl="0" indent="0" algn="just">
              <a:lnSpc>
                <a:spcPct val="100000"/>
              </a:lnSpc>
              <a:spcBef>
                <a:spcPts val="0"/>
              </a:spcBef>
              <a:buNone/>
            </a:pPr>
            <a:r>
              <a:rPr lang="it-IT" sz="1600" dirty="0">
                <a:solidFill>
                  <a:prstClr val="black"/>
                </a:solidFill>
              </a:rPr>
              <a:t>                                                                                                                                                                                                                             CONTINUA</a:t>
            </a:r>
          </a:p>
        </p:txBody>
      </p:sp>
    </p:spTree>
    <p:extLst>
      <p:ext uri="{BB962C8B-B14F-4D97-AF65-F5344CB8AC3E}">
        <p14:creationId xmlns:p14="http://schemas.microsoft.com/office/powerpoint/2010/main" val="3434921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854765" y="83126"/>
            <a:ext cx="10499034" cy="175291"/>
          </a:xfrm>
        </p:spPr>
        <p:txBody>
          <a:bodyPr>
            <a:normAutofit fontScale="90000"/>
          </a:bodyPr>
          <a:lstStyle/>
          <a:p>
            <a:pPr algn="ctr"/>
            <a:br>
              <a:rPr lang="it-IT" sz="2000" b="1" dirty="0">
                <a:solidFill>
                  <a:schemeClr val="accent2"/>
                </a:solidFill>
                <a:latin typeface="+mn-lt"/>
                <a:ea typeface="+mn-ea"/>
                <a:cs typeface="+mn-cs"/>
              </a:rPr>
            </a:br>
            <a:r>
              <a:rPr lang="it-IT" sz="2000" b="1" dirty="0">
                <a:solidFill>
                  <a:schemeClr val="accent2"/>
                </a:solidFill>
                <a:latin typeface="+mn-lt"/>
                <a:ea typeface="+mn-ea"/>
                <a:cs typeface="+mn-cs"/>
              </a:rPr>
              <a:t>(</a:t>
            </a:r>
            <a:r>
              <a:rPr lang="it-IT" sz="2000" b="1" i="1" dirty="0">
                <a:solidFill>
                  <a:schemeClr val="accent2"/>
                </a:solidFill>
                <a:latin typeface="+mn-lt"/>
                <a:ea typeface="+mn-ea"/>
                <a:cs typeface="+mn-cs"/>
              </a:rPr>
              <a:t>SEGUE</a:t>
            </a:r>
            <a:r>
              <a:rPr lang="it-IT" sz="2000" b="1" dirty="0">
                <a:solidFill>
                  <a:schemeClr val="accent2"/>
                </a:solidFill>
                <a:latin typeface="+mn-lt"/>
                <a:ea typeface="+mn-ea"/>
                <a:cs typeface="+mn-cs"/>
              </a:rPr>
              <a:t>) PROVA DEI FATTI GIURIDICI</a:t>
            </a:r>
            <a:endParaRPr lang="it-IT" sz="2200" b="1" cap="all" dirty="0">
              <a:solidFill>
                <a:schemeClr val="accent2">
                  <a:lumMod val="75000"/>
                </a:schemeClr>
              </a:solidFill>
              <a:latin typeface="+mn-lt"/>
            </a:endParaRPr>
          </a:p>
        </p:txBody>
      </p:sp>
      <p:sp>
        <p:nvSpPr>
          <p:cNvPr id="3" name="Segnaposto contenuto 2"/>
          <p:cNvSpPr>
            <a:spLocks noGrp="1"/>
          </p:cNvSpPr>
          <p:nvPr>
            <p:ph idx="1"/>
          </p:nvPr>
        </p:nvSpPr>
        <p:spPr>
          <a:xfrm>
            <a:off x="0" y="446809"/>
            <a:ext cx="12191998" cy="6411192"/>
          </a:xfrm>
        </p:spPr>
        <p:txBody>
          <a:bodyPr vert="horz" lIns="91440" tIns="45720" rIns="91440" bIns="45720" rtlCol="0" anchor="t">
            <a:noAutofit/>
          </a:bodyPr>
          <a:lstStyle/>
          <a:p>
            <a:pPr marL="0" lvl="0" indent="0" algn="just">
              <a:lnSpc>
                <a:spcPct val="100000"/>
              </a:lnSpc>
              <a:spcBef>
                <a:spcPts val="0"/>
              </a:spcBef>
              <a:buNone/>
            </a:pPr>
            <a:endParaRPr lang="it-IT" sz="1600" i="1" dirty="0">
              <a:solidFill>
                <a:prstClr val="black"/>
              </a:solidFill>
            </a:endParaRPr>
          </a:p>
          <a:p>
            <a:pPr marL="0" lvl="0" indent="0" algn="just">
              <a:lnSpc>
                <a:spcPct val="100000"/>
              </a:lnSpc>
              <a:spcBef>
                <a:spcPts val="0"/>
              </a:spcBef>
              <a:buNone/>
            </a:pPr>
            <a:r>
              <a:rPr lang="it-IT" sz="1600" i="1" dirty="0">
                <a:solidFill>
                  <a:prstClr val="black"/>
                </a:solidFill>
              </a:rPr>
              <a:t>- </a:t>
            </a:r>
            <a:r>
              <a:rPr lang="it-IT" sz="1600" i="1" u="sng" dirty="0">
                <a:solidFill>
                  <a:prstClr val="black"/>
                </a:solidFill>
              </a:rPr>
              <a:t>(segue) </a:t>
            </a:r>
            <a:r>
              <a:rPr lang="it-IT" sz="1600" u="sng" dirty="0">
                <a:solidFill>
                  <a:prstClr val="black"/>
                </a:solidFill>
              </a:rPr>
              <a:t>orale (si forma nel processo):</a:t>
            </a:r>
          </a:p>
          <a:p>
            <a:pPr marL="0" lvl="0" indent="0" algn="just">
              <a:lnSpc>
                <a:spcPct val="100000"/>
              </a:lnSpc>
              <a:spcBef>
                <a:spcPts val="0"/>
              </a:spcBef>
              <a:buNone/>
            </a:pPr>
            <a:r>
              <a:rPr lang="it-IT" sz="1600" b="1" i="1" dirty="0">
                <a:solidFill>
                  <a:prstClr val="black"/>
                </a:solidFill>
              </a:rPr>
              <a:t>confessione</a:t>
            </a:r>
            <a:r>
              <a:rPr lang="it-IT" sz="1600" i="1" dirty="0">
                <a:solidFill>
                  <a:prstClr val="black"/>
                </a:solidFill>
              </a:rPr>
              <a:t>: </a:t>
            </a:r>
            <a:r>
              <a:rPr lang="it-IT" sz="1600" dirty="0">
                <a:solidFill>
                  <a:prstClr val="black"/>
                </a:solidFill>
              </a:rPr>
              <a:t>dichiarazione (atto giuridico non negoziale) che una parte in causa fa della verità di fatti ad essa sfavorevoli e favorevoli all'altra parte (art. 2730 c.c.); la giurisprudenza richiede un elemento soggettivo, ossia la consapevolezza, e un elemento oggettivo, ossia l’obbiettivo pregiudizio per chi confessa e il corrispondente vantaggio per l’altra parte (C., S.U. 7381/2013); oggetto della confessione sono i fatti e non la fondatezza della pretesa avversaria; non va confusa con la ricognizione di debito, che è un negozio giuridico con l’effetto di dispensare il destinatario dall’onere di provare il rapporto fondamentale (art. 1988 c.c.); chi la rende deve avere la capacità di disporre del diritto cui i fatti confessati si riferiscono (art. 2731 c.c.); se è giudiziale, ossia resa in giudizio, forma piena prova contro colui che l'ha fatta (art. 2733 c.c.); se è stragiudiziale ed è fatta alla parte o a chi la rappresenta ha la stessa efficacia probatoria di quella giudiziale, mentre, se è fatta a un terzo o se è contenuta in un testamento, è liberamente apprezzata dal giudice (art. 2735 c.c.: v. C. 12798/2018 sulla confessione del lavoratore al rappresentante del datore di lavoro);</a:t>
            </a:r>
          </a:p>
          <a:p>
            <a:pPr marL="0" lvl="0" indent="0" algn="just">
              <a:lnSpc>
                <a:spcPct val="100000"/>
              </a:lnSpc>
              <a:spcBef>
                <a:spcPts val="0"/>
              </a:spcBef>
              <a:buNone/>
            </a:pPr>
            <a:r>
              <a:rPr lang="it-IT" sz="1600" b="1" i="1" dirty="0">
                <a:solidFill>
                  <a:prstClr val="black"/>
                </a:solidFill>
              </a:rPr>
              <a:t>giuramento</a:t>
            </a:r>
            <a:r>
              <a:rPr lang="it-IT" sz="1600" i="1" dirty="0">
                <a:solidFill>
                  <a:prstClr val="black"/>
                </a:solidFill>
              </a:rPr>
              <a:t>: </a:t>
            </a:r>
            <a:r>
              <a:rPr lang="it-IT" sz="1600" dirty="0">
                <a:solidFill>
                  <a:prstClr val="black"/>
                </a:solidFill>
              </a:rPr>
              <a:t>dichiarazione della verità di un fatto, compiuta dalla parte nelle forme gravi e solenni previste dalla legge, con efficacia probatoria solo in quanto sia resa in giudizio con particolari forme, sicché è sempre e solo prova costituenda, ed inoltre si caratterizza (e si distingue rispetto alla confessione) in quanto proviene dalla parte alla quale i fatti </a:t>
            </a:r>
            <a:r>
              <a:rPr lang="it-IT" sz="1600" dirty="0" err="1">
                <a:solidFill>
                  <a:prstClr val="black"/>
                </a:solidFill>
              </a:rPr>
              <a:t>dichiarandi</a:t>
            </a:r>
            <a:r>
              <a:rPr lang="it-IT" sz="1600" dirty="0">
                <a:solidFill>
                  <a:prstClr val="black"/>
                </a:solidFill>
              </a:rPr>
              <a:t> non nuocciono, ma giovano;</a:t>
            </a:r>
          </a:p>
          <a:p>
            <a:pPr marL="0" lvl="0" indent="0" algn="just">
              <a:lnSpc>
                <a:spcPct val="100000"/>
              </a:lnSpc>
              <a:spcBef>
                <a:spcPts val="0"/>
              </a:spcBef>
              <a:buNone/>
            </a:pPr>
            <a:r>
              <a:rPr lang="it-IT" sz="1600" i="1" dirty="0">
                <a:solidFill>
                  <a:prstClr val="black"/>
                </a:solidFill>
              </a:rPr>
              <a:t>decisorio</a:t>
            </a:r>
            <a:r>
              <a:rPr lang="it-IT" sz="1600" dirty="0">
                <a:solidFill>
                  <a:prstClr val="black"/>
                </a:solidFill>
              </a:rPr>
              <a:t>: se una parte lo deferisca all’altra per farne dipendere la decisione totale o parziale della causa, nel senso che può chiedere al giudice istruttore in qualsiasi stato del processo che l'altra parte giuri su determinati fatti; l'altra parte, a questo punto, deve dichiararsi pronta a giurare: finché non l'abbia fatto può a sua volta riferire il giuramento all'avversario (art. 2736, n. 1, c.c.); </a:t>
            </a:r>
          </a:p>
          <a:p>
            <a:pPr marL="0" lvl="0" indent="0" algn="just">
              <a:lnSpc>
                <a:spcPct val="100000"/>
              </a:lnSpc>
              <a:spcBef>
                <a:spcPts val="0"/>
              </a:spcBef>
              <a:buNone/>
            </a:pPr>
            <a:r>
              <a:rPr lang="it-IT" sz="1600" i="1" dirty="0">
                <a:solidFill>
                  <a:prstClr val="black"/>
                </a:solidFill>
              </a:rPr>
              <a:t>suppletorio</a:t>
            </a:r>
            <a:r>
              <a:rPr lang="it-IT" sz="1600" dirty="0">
                <a:solidFill>
                  <a:prstClr val="black"/>
                </a:solidFill>
              </a:rPr>
              <a:t>: viene deferito dal giudice d'ufficio al fine di giungere a una decisione, quando, dopo l'istruttoria, le domande e le eccezioni delle parti, pur non del tutto sfornite di prova, non sono pienamente dimostrate (art. 2736, n. 2, c.c.); </a:t>
            </a:r>
          </a:p>
          <a:p>
            <a:pPr marL="0" lvl="0" indent="0" algn="just">
              <a:lnSpc>
                <a:spcPct val="100000"/>
              </a:lnSpc>
              <a:spcBef>
                <a:spcPts val="0"/>
              </a:spcBef>
              <a:buNone/>
            </a:pPr>
            <a:r>
              <a:rPr lang="it-IT" sz="1600" i="1" dirty="0">
                <a:solidFill>
                  <a:prstClr val="black"/>
                </a:solidFill>
              </a:rPr>
              <a:t>estimatorio</a:t>
            </a:r>
            <a:r>
              <a:rPr lang="it-IT" sz="1600" dirty="0">
                <a:solidFill>
                  <a:prstClr val="black"/>
                </a:solidFill>
              </a:rPr>
              <a:t>: è deferito dal giudice al fine di stabilire il valore della cosa domandata, se non si può accertarlo altrimenti (art. 2736, n. 2, c.c.); </a:t>
            </a:r>
            <a:endParaRPr kumimoji="0" lang="it-IT" sz="1600" b="1" u="none" strike="noStrike" kern="1200" cap="none" spc="0" normalizeH="0" baseline="0" noProof="0" dirty="0">
              <a:ln>
                <a:noFill/>
              </a:ln>
              <a:solidFill>
                <a:srgbClr val="FF0000"/>
              </a:solidFill>
              <a:effectLst/>
              <a:uLnTx/>
              <a:uFillTx/>
              <a:latin typeface="Calibri" panose="020F0502020204030204"/>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it-IT" sz="1600" b="1" noProof="0" dirty="0">
              <a:solidFill>
                <a:srgbClr val="FF0000"/>
              </a:solidFill>
              <a:latin typeface="Calibri" panose="020F0502020204030204"/>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1600" b="0" i="0" u="sng" strike="noStrike" kern="1200" cap="none" spc="0" normalizeH="0" baseline="0" noProof="0" dirty="0">
                <a:ln>
                  <a:noFill/>
                </a:ln>
                <a:solidFill>
                  <a:prstClr val="black"/>
                </a:solidFill>
                <a:effectLst/>
                <a:uLnTx/>
                <a:uFillTx/>
                <a:latin typeface="Calibri" panose="020F0502020204030204"/>
                <a:ea typeface="+mn-ea"/>
                <a:cs typeface="+mn-cs"/>
              </a:rPr>
              <a:t>-critica: </a:t>
            </a:r>
          </a:p>
          <a:p>
            <a:pPr marL="0" indent="0" algn="just">
              <a:lnSpc>
                <a:spcPct val="100000"/>
              </a:lnSpc>
              <a:spcBef>
                <a:spcPts val="0"/>
              </a:spcBef>
              <a:buNone/>
              <a:defRPr/>
            </a:pPr>
            <a:r>
              <a:rPr lang="it-IT" sz="1600" b="1" i="1" dirty="0">
                <a:solidFill>
                  <a:prstClr val="black"/>
                </a:solidFill>
                <a:latin typeface="Calibri" panose="020F0502020204030204"/>
                <a:cs typeface="Calibri"/>
              </a:rPr>
              <a:t>presunzioni semplici</a:t>
            </a:r>
            <a:r>
              <a:rPr lang="it-IT" sz="1600" i="1" dirty="0">
                <a:solidFill>
                  <a:prstClr val="black"/>
                </a:solidFill>
                <a:latin typeface="Calibri" panose="020F0502020204030204"/>
                <a:cs typeface="Calibri"/>
              </a:rPr>
              <a:t>: </a:t>
            </a:r>
            <a:r>
              <a:rPr lang="it-IT" sz="1600" dirty="0">
                <a:solidFill>
                  <a:prstClr val="black"/>
                </a:solidFill>
                <a:latin typeface="Calibri" panose="020F0502020204030204"/>
                <a:cs typeface="Calibri"/>
              </a:rPr>
              <a:t>conseguenze che la legge o il giudice trae da un fatto noto per risalire a un fatto ignorato; il fatto noto posto deve dunque essere un fatto conosciuto dal giudice in quanto notorio, pacifico o già accertato in giudizio mediante altri mezzi di prova; fatto ignorato, che si intende provare mediante il ragionamento presuntivo, è ogni fatto rilevante ai fini della decisione, di cui il giudice non abbia ancora definitivamente accertato l'esistenza o l'inesistenza (art. 2727 c.c.); sono lasciate al libero apprezzamento del giudice, il quale non deve ammettere che presunzioni gravi, precise e concordanti (art. 2729 c.c.); es.: dalla misurazione dello spazio di frenata, si deduce che il </a:t>
            </a:r>
            <a:endParaRPr lang="it-IT" sz="1600" dirty="0">
              <a:solidFill>
                <a:prstClr val="black"/>
              </a:solidFill>
              <a:cs typeface="Calibri"/>
            </a:endParaRPr>
          </a:p>
        </p:txBody>
      </p:sp>
    </p:spTree>
    <p:extLst>
      <p:ext uri="{BB962C8B-B14F-4D97-AF65-F5344CB8AC3E}">
        <p14:creationId xmlns:p14="http://schemas.microsoft.com/office/powerpoint/2010/main" val="533454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854765" y="83126"/>
            <a:ext cx="10499034" cy="175291"/>
          </a:xfrm>
        </p:spPr>
        <p:txBody>
          <a:bodyPr>
            <a:normAutofit fontScale="90000"/>
          </a:bodyPr>
          <a:lstStyle/>
          <a:p>
            <a:pPr algn="ctr"/>
            <a:br>
              <a:rPr lang="it-IT" sz="2000" b="1" dirty="0">
                <a:solidFill>
                  <a:schemeClr val="accent2"/>
                </a:solidFill>
                <a:latin typeface="+mn-lt"/>
                <a:ea typeface="+mn-ea"/>
                <a:cs typeface="+mn-cs"/>
              </a:rPr>
            </a:br>
            <a:r>
              <a:rPr lang="it-IT" sz="2000" b="1" dirty="0">
                <a:solidFill>
                  <a:schemeClr val="accent2"/>
                </a:solidFill>
                <a:latin typeface="+mn-lt"/>
                <a:ea typeface="+mn-ea"/>
                <a:cs typeface="+mn-cs"/>
              </a:rPr>
              <a:t>(</a:t>
            </a:r>
            <a:r>
              <a:rPr lang="it-IT" sz="2000" b="1" i="1" dirty="0">
                <a:solidFill>
                  <a:schemeClr val="accent2"/>
                </a:solidFill>
                <a:latin typeface="+mn-lt"/>
                <a:ea typeface="+mn-ea"/>
                <a:cs typeface="+mn-cs"/>
              </a:rPr>
              <a:t>SEGUE</a:t>
            </a:r>
            <a:r>
              <a:rPr lang="it-IT" sz="2000" b="1" dirty="0">
                <a:solidFill>
                  <a:schemeClr val="accent2"/>
                </a:solidFill>
                <a:latin typeface="+mn-lt"/>
                <a:ea typeface="+mn-ea"/>
                <a:cs typeface="+mn-cs"/>
              </a:rPr>
              <a:t>) PROVA DEI FATTI GIURIDICI</a:t>
            </a:r>
            <a:endParaRPr lang="it-IT" sz="2200" b="1" cap="all" dirty="0">
              <a:solidFill>
                <a:schemeClr val="accent2">
                  <a:lumMod val="75000"/>
                </a:schemeClr>
              </a:solidFill>
              <a:latin typeface="+mn-lt"/>
            </a:endParaRPr>
          </a:p>
        </p:txBody>
      </p:sp>
      <p:sp>
        <p:nvSpPr>
          <p:cNvPr id="3" name="Segnaposto contenuto 2"/>
          <p:cNvSpPr>
            <a:spLocks noGrp="1"/>
          </p:cNvSpPr>
          <p:nvPr>
            <p:ph idx="1"/>
          </p:nvPr>
        </p:nvSpPr>
        <p:spPr>
          <a:xfrm>
            <a:off x="0" y="446809"/>
            <a:ext cx="12191998" cy="6411192"/>
          </a:xfrm>
        </p:spPr>
        <p:txBody>
          <a:bodyPr vert="horz" lIns="91440" tIns="45720" rIns="91440" bIns="45720" rtlCol="0" anchor="t">
            <a:noAutofit/>
          </a:bodyPr>
          <a:lstStyle/>
          <a:p>
            <a:pPr marL="0" lvl="0" indent="0" algn="just">
              <a:lnSpc>
                <a:spcPct val="100000"/>
              </a:lnSpc>
              <a:spcBef>
                <a:spcPts val="0"/>
              </a:spcBef>
              <a:buNone/>
            </a:pPr>
            <a:endParaRPr lang="it-IT" sz="1600" i="1" dirty="0">
              <a:solidFill>
                <a:prstClr val="black"/>
              </a:solidFill>
            </a:endParaRPr>
          </a:p>
          <a:p>
            <a:pPr marL="0" lvl="0" indent="0" algn="just">
              <a:lnSpc>
                <a:spcPct val="100000"/>
              </a:lnSpc>
              <a:spcBef>
                <a:spcPts val="0"/>
              </a:spcBef>
              <a:buNone/>
            </a:pPr>
            <a:r>
              <a:rPr lang="it-IT" sz="1600" i="1" dirty="0">
                <a:solidFill>
                  <a:prstClr val="black"/>
                </a:solidFill>
              </a:rPr>
              <a:t>- </a:t>
            </a:r>
            <a:r>
              <a:rPr lang="it-IT" sz="1600" i="1" u="sng" dirty="0">
                <a:solidFill>
                  <a:prstClr val="black"/>
                </a:solidFill>
              </a:rPr>
              <a:t>(segue) </a:t>
            </a:r>
            <a:r>
              <a:rPr lang="it-IT" sz="1600" u="sng" dirty="0">
                <a:solidFill>
                  <a:prstClr val="black"/>
                </a:solidFill>
              </a:rPr>
              <a:t>critica:</a:t>
            </a:r>
          </a:p>
          <a:p>
            <a:pPr algn="just">
              <a:buNone/>
              <a:defRPr/>
            </a:pPr>
            <a:r>
              <a:rPr lang="it-IT" sz="1600" dirty="0">
                <a:solidFill>
                  <a:prstClr val="black"/>
                </a:solidFill>
                <a:latin typeface="Calibri" panose="020F0502020204030204"/>
                <a:cs typeface="Calibri"/>
              </a:rPr>
              <a:t>veicolo andava a una certa velocità);</a:t>
            </a:r>
          </a:p>
          <a:p>
            <a:pPr algn="just">
              <a:buNone/>
              <a:defRPr/>
            </a:pPr>
            <a:r>
              <a:rPr lang="it-IT" sz="1600" b="1" i="1" dirty="0">
                <a:solidFill>
                  <a:prstClr val="black"/>
                </a:solidFill>
                <a:latin typeface="Calibri" panose="020F0502020204030204"/>
                <a:cs typeface="Calibri"/>
              </a:rPr>
              <a:t>presunzioni legali</a:t>
            </a:r>
            <a:r>
              <a:rPr lang="it-IT" sz="1600" i="1" dirty="0">
                <a:solidFill>
                  <a:prstClr val="black"/>
                </a:solidFill>
                <a:latin typeface="Calibri" panose="020F0502020204030204"/>
                <a:cs typeface="Calibri"/>
              </a:rPr>
              <a:t>:</a:t>
            </a:r>
            <a:r>
              <a:rPr lang="it-IT" sz="1600">
                <a:solidFill>
                  <a:prstClr val="black"/>
                </a:solidFill>
                <a:latin typeface="Calibri" panose="020F0502020204030204"/>
                <a:cs typeface="Calibri"/>
              </a:rPr>
              <a:t> in realtà non sono mezzi di prova, che riguardano l'accertamento giudiziale della verità dei fatti, ma meccanismi normativi che incidono sul regime di distribuzione dell'onere della prova, escludendo la necessità, per la parte a favore della quale operano, di fornire la </a:t>
            </a:r>
            <a:r>
              <a:rPr lang="it-IT" sz="1600" dirty="0">
                <a:solidFill>
                  <a:prstClr val="black"/>
                </a:solidFill>
                <a:latin typeface="Calibri" panose="020F0502020204030204"/>
                <a:cs typeface="Calibri"/>
              </a:rPr>
              <a:t>prova di un fatto che rientra nella fattispecie da essa dedotta in giudizio; assolute o </a:t>
            </a:r>
            <a:r>
              <a:rPr lang="it-IT" sz="1600" i="1" dirty="0">
                <a:solidFill>
                  <a:prstClr val="black"/>
                </a:solidFill>
                <a:latin typeface="Calibri" panose="020F0502020204030204"/>
                <a:cs typeface="Calibri"/>
              </a:rPr>
              <a:t>iuris et de iure</a:t>
            </a:r>
            <a:r>
              <a:rPr lang="it-IT" sz="1600" dirty="0">
                <a:solidFill>
                  <a:prstClr val="black"/>
                </a:solidFill>
                <a:latin typeface="Calibri" panose="020F0502020204030204"/>
                <a:cs typeface="Calibri"/>
              </a:rPr>
              <a:t>: non ammettono prova contraria (es.: art. 2 c.c.); relative o </a:t>
            </a:r>
            <a:r>
              <a:rPr lang="it-IT" sz="1600" i="1" dirty="0">
                <a:solidFill>
                  <a:prstClr val="black"/>
                </a:solidFill>
                <a:latin typeface="Calibri" panose="020F0502020204030204"/>
                <a:cs typeface="Calibri"/>
              </a:rPr>
              <a:t>iuris tantum: </a:t>
            </a:r>
            <a:r>
              <a:rPr lang="it-IT" sz="1600" dirty="0">
                <a:solidFill>
                  <a:prstClr val="black"/>
                </a:solidFill>
                <a:latin typeface="Calibri" panose="020F0502020204030204"/>
                <a:cs typeface="Calibri"/>
              </a:rPr>
              <a:t>pongono sulla controparte l’onere della prova contraria (artt. 232+234 e 1218 c.c.);</a:t>
            </a:r>
            <a:endParaRPr lang="it-IT">
              <a:solidFill>
                <a:prstClr val="black"/>
              </a:solidFill>
            </a:endParaRPr>
          </a:p>
          <a:p>
            <a:pPr marL="0" lvl="0" indent="0" algn="just">
              <a:lnSpc>
                <a:spcPct val="100000"/>
              </a:lnSpc>
              <a:spcBef>
                <a:spcPts val="0"/>
              </a:spcBef>
              <a:buNone/>
              <a:defRPr/>
            </a:pPr>
            <a:r>
              <a:rPr lang="it-IT" sz="1600" b="1" i="1" dirty="0">
                <a:solidFill>
                  <a:prstClr val="black"/>
                </a:solidFill>
                <a:latin typeface="Calibri" panose="020F0502020204030204"/>
              </a:rPr>
              <a:t>presunzioni </a:t>
            </a:r>
            <a:r>
              <a:rPr lang="it-IT" sz="1600" b="1" i="1" dirty="0">
                <a:solidFill>
                  <a:prstClr val="black"/>
                </a:solidFill>
              </a:rPr>
              <a:t>giurisprudenziali</a:t>
            </a:r>
            <a:r>
              <a:rPr lang="it-IT" sz="1600" dirty="0">
                <a:solidFill>
                  <a:prstClr val="black"/>
                </a:solidFill>
              </a:rPr>
              <a:t>: simili alle presunzioni legali relative, trattandosi in entrambi i casi di meccanismi (o «regole di giudizio») che incidono sulla ripartizione degli oneri probatori delle parti, modificandone o invertendo la disciplina prevista dall'art. 2697 c.c. (es.: art. 1224, II comma, c.c.)</a:t>
            </a:r>
          </a:p>
        </p:txBody>
      </p:sp>
    </p:spTree>
    <p:extLst>
      <p:ext uri="{BB962C8B-B14F-4D97-AF65-F5344CB8AC3E}">
        <p14:creationId xmlns:p14="http://schemas.microsoft.com/office/powerpoint/2010/main" val="95683686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12223</TotalTime>
  <Words>2327</Words>
  <Application>Microsoft Office PowerPoint</Application>
  <PresentationFormat>Widescreen</PresentationFormat>
  <Paragraphs>84</Paragraphs>
  <Slides>6</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6</vt:i4>
      </vt:variant>
    </vt:vector>
  </HeadingPairs>
  <TitlesOfParts>
    <vt:vector size="10" baseType="lpstr">
      <vt:lpstr>Arial</vt:lpstr>
      <vt:lpstr>Calibri</vt:lpstr>
      <vt:lpstr>Calibri Light</vt:lpstr>
      <vt:lpstr>Tema di Office</vt:lpstr>
      <vt:lpstr>Presentazione standard di PowerPoint</vt:lpstr>
      <vt:lpstr>  TUTELA GIURISDIZIONALE CIVILE </vt:lpstr>
      <vt:lpstr> </vt:lpstr>
      <vt:lpstr> PROVA DEI FATTI GIURIDICI</vt:lpstr>
      <vt:lpstr> (SEGUE) PROVA DEI FATTI GIURIDICI</vt:lpstr>
      <vt:lpstr> (SEGUE) PROVA DEI FATTI GIURIDICI</vt:lpstr>
    </vt:vector>
  </TitlesOfParts>
  <Company>Università Degli Studi Di Parma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INTERDETTO GIUDIZIALE -PRESUPPOSTI (artt. 414 ss.):  -la maggiore età o l’emancipazione, e l’abituale e grave infermità di mente.  -TUTELA (artt. 424 e 343 c.c. ss.):  - organi dell’ufficio tutelare: giudice tutelare, tutore, protutore; - il tutore è nominato dal giudice tutelare (art. 346 c.c.) o dal Tribunale dei Minori, se il minore è in stato di adottabilità (art. 19, l. 184/1983);  - il tutore ha la cura della persona ed è un rappresentante legale (art. 357 cc.) in tutti gli atti civili; -per gli atti di straordinaria amministrazione sul patrimonio del minore, il tutore abbisogna dell’autorizzazione del giudice tutelare (art. 374 c.c.) o del tribunale (art. 375 c.c.).  -MATRIMONIO E TESTAMENTO (atti personalissimi): -.</dc:title>
  <dc:creator>unipr</dc:creator>
  <cp:lastModifiedBy>Cristina COPPOLA</cp:lastModifiedBy>
  <cp:revision>720</cp:revision>
  <dcterms:created xsi:type="dcterms:W3CDTF">2020-03-02T14:53:55Z</dcterms:created>
  <dcterms:modified xsi:type="dcterms:W3CDTF">2023-11-21T12:02:17Z</dcterms:modified>
</cp:coreProperties>
</file>